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7" r:id="rId2"/>
    <p:sldId id="1091" r:id="rId3"/>
    <p:sldId id="1135" r:id="rId4"/>
    <p:sldId id="1136" r:id="rId5"/>
    <p:sldId id="1137" r:id="rId6"/>
    <p:sldId id="1109" r:id="rId7"/>
    <p:sldId id="1112" r:id="rId8"/>
    <p:sldId id="1138" r:id="rId9"/>
    <p:sldId id="1139" r:id="rId10"/>
    <p:sldId id="1134" r:id="rId11"/>
    <p:sldId id="1122" r:id="rId12"/>
    <p:sldId id="1124" r:id="rId13"/>
    <p:sldId id="1144" r:id="rId14"/>
    <p:sldId id="1126" r:id="rId15"/>
    <p:sldId id="1143" r:id="rId16"/>
    <p:sldId id="1145" r:id="rId17"/>
    <p:sldId id="1146" r:id="rId18"/>
    <p:sldId id="1142" r:id="rId19"/>
    <p:sldId id="1123" r:id="rId20"/>
    <p:sldId id="1140" r:id="rId21"/>
    <p:sldId id="1141" r:id="rId22"/>
    <p:sldId id="1147" r:id="rId23"/>
    <p:sldId id="1128" r:id="rId24"/>
  </p:sldIdLst>
  <p:sldSz cx="12192000" cy="6858000"/>
  <p:notesSz cx="6735763" cy="98663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nt Kouyoumdjian" initials="SK" lastIdx="2" clrIdx="0">
    <p:extLst>
      <p:ext uri="{19B8F6BF-5375-455C-9EA6-DF929625EA0E}">
        <p15:presenceInfo xmlns:p15="http://schemas.microsoft.com/office/powerpoint/2012/main" userId="S::shant.kouyoumdjian@zoran-sal.com::dadac09b-7ed3-4904-847d-d0fb8134a63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CBC4"/>
    <a:srgbClr val="56BEDC"/>
    <a:srgbClr val="5EC1DE"/>
    <a:srgbClr val="79DAD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6" autoAdjust="0"/>
    <p:restoredTop sz="94660"/>
  </p:normalViewPr>
  <p:slideViewPr>
    <p:cSldViewPr snapToGrid="0">
      <p:cViewPr varScale="1">
        <p:scale>
          <a:sx n="67" d="100"/>
          <a:sy n="67" d="100"/>
        </p:scale>
        <p:origin x="52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8948C1-1952-4A6C-85AE-83546048EFBE}"/>
              </a:ext>
            </a:extLst>
          </p:cNvPr>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8B1870B-7192-4E4D-907A-92FC3CB89209}"/>
              </a:ext>
            </a:extLst>
          </p:cNvPr>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4948D579-D2CC-4DD5-A0B7-79F885CF2014}" type="datetimeFigureOut">
              <a:rPr lang="en-US" smtClean="0"/>
              <a:t>6/4/2025</a:t>
            </a:fld>
            <a:endParaRPr lang="en-US"/>
          </a:p>
        </p:txBody>
      </p:sp>
      <p:sp>
        <p:nvSpPr>
          <p:cNvPr id="4" name="Slide Image Placeholder 3">
            <a:extLst>
              <a:ext uri="{FF2B5EF4-FFF2-40B4-BE49-F238E27FC236}">
                <a16:creationId xmlns:a16="http://schemas.microsoft.com/office/drawing/2014/main" id="{47DD4CED-A205-48A8-AEDA-3E3FD9DA4575}"/>
              </a:ext>
            </a:extLst>
          </p:cNvPr>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a:extLst>
              <a:ext uri="{FF2B5EF4-FFF2-40B4-BE49-F238E27FC236}">
                <a16:creationId xmlns:a16="http://schemas.microsoft.com/office/drawing/2014/main" id="{1386BEA3-329E-4E67-A32E-93BD84BD9EC0}"/>
              </a:ext>
            </a:extLst>
          </p:cNvPr>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2506D60-7B3D-4959-B9F7-6EF4E62F948F}"/>
              </a:ext>
            </a:extLst>
          </p:cNvPr>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a:extLst>
              <a:ext uri="{FF2B5EF4-FFF2-40B4-BE49-F238E27FC236}">
                <a16:creationId xmlns:a16="http://schemas.microsoft.com/office/drawing/2014/main" id="{C995FFB0-89B4-4A7D-80FE-D61A138DDA84}"/>
              </a:ext>
            </a:extLst>
          </p:cNvPr>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E97BA77A-243C-42D4-9D49-E5982B5CC77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55F2755F-508F-41CA-B27E-0C286AA03BE4}" type="datetimeFigureOut">
              <a:rPr lang="en-GB" smtClean="0"/>
              <a:t>04/06/2025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B31F4F-98EE-449C-B8F9-BB47E3C143A9}" type="slidenum">
              <a:rPr lang="en-GB" smtClean="0"/>
              <a:t>‹#›</a:t>
            </a:fld>
            <a:endParaRPr lang="en-GB"/>
          </a:p>
        </p:txBody>
      </p:sp>
    </p:spTree>
    <p:extLst>
      <p:ext uri="{BB962C8B-B14F-4D97-AF65-F5344CB8AC3E}">
        <p14:creationId xmlns:p14="http://schemas.microsoft.com/office/powerpoint/2010/main" val="2834035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5F2755F-508F-41CA-B27E-0C286AA03BE4}" type="datetimeFigureOut">
              <a:rPr lang="en-GB" smtClean="0"/>
              <a:t>04/06/2025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B31F4F-98EE-449C-B8F9-BB47E3C143A9}" type="slidenum">
              <a:rPr lang="en-GB" smtClean="0"/>
              <a:t>‹#›</a:t>
            </a:fld>
            <a:endParaRPr lang="en-GB"/>
          </a:p>
        </p:txBody>
      </p:sp>
    </p:spTree>
    <p:extLst>
      <p:ext uri="{BB962C8B-B14F-4D97-AF65-F5344CB8AC3E}">
        <p14:creationId xmlns:p14="http://schemas.microsoft.com/office/powerpoint/2010/main" val="3552241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5F2755F-508F-41CA-B27E-0C286AA03BE4}" type="datetimeFigureOut">
              <a:rPr lang="en-GB" smtClean="0"/>
              <a:t>04/06/2025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B31F4F-98EE-449C-B8F9-BB47E3C143A9}" type="slidenum">
              <a:rPr lang="en-GB" smtClean="0"/>
              <a:t>‹#›</a:t>
            </a:fld>
            <a:endParaRPr lang="en-GB"/>
          </a:p>
        </p:txBody>
      </p:sp>
    </p:spTree>
    <p:extLst>
      <p:ext uri="{BB962C8B-B14F-4D97-AF65-F5344CB8AC3E}">
        <p14:creationId xmlns:p14="http://schemas.microsoft.com/office/powerpoint/2010/main" val="2550521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5F2755F-508F-41CA-B27E-0C286AA03BE4}" type="datetimeFigureOut">
              <a:rPr lang="en-GB" smtClean="0"/>
              <a:t>04/06/2025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DB31F4F-98EE-449C-B8F9-BB47E3C143A9}" type="slidenum">
              <a:rPr lang="en-GB" smtClean="0"/>
              <a:t>‹#›</a:t>
            </a:fld>
            <a:endParaRPr lang="en-GB"/>
          </a:p>
        </p:txBody>
      </p:sp>
    </p:spTree>
    <p:extLst>
      <p:ext uri="{BB962C8B-B14F-4D97-AF65-F5344CB8AC3E}">
        <p14:creationId xmlns:p14="http://schemas.microsoft.com/office/powerpoint/2010/main" val="3359855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55F2755F-508F-41CA-B27E-0C286AA03BE4}" type="datetimeFigureOut">
              <a:rPr lang="en-GB" smtClean="0"/>
              <a:t>04/06/2025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DB31F4F-98EE-449C-B8F9-BB47E3C143A9}" type="slidenum">
              <a:rPr lang="en-GB" smtClean="0"/>
              <a:t>‹#›</a:t>
            </a:fld>
            <a:endParaRPr lang="en-GB"/>
          </a:p>
        </p:txBody>
      </p:sp>
    </p:spTree>
    <p:extLst>
      <p:ext uri="{BB962C8B-B14F-4D97-AF65-F5344CB8AC3E}">
        <p14:creationId xmlns:p14="http://schemas.microsoft.com/office/powerpoint/2010/main" val="1752165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55F2755F-508F-41CA-B27E-0C286AA03BE4}" type="datetimeFigureOut">
              <a:rPr lang="en-GB" smtClean="0"/>
              <a:t>04/06/2025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DB31F4F-98EE-449C-B8F9-BB47E3C143A9}" type="slidenum">
              <a:rPr lang="en-GB" smtClean="0"/>
              <a:t>‹#›</a:t>
            </a:fld>
            <a:endParaRPr lang="en-GB"/>
          </a:p>
        </p:txBody>
      </p:sp>
    </p:spTree>
    <p:extLst>
      <p:ext uri="{BB962C8B-B14F-4D97-AF65-F5344CB8AC3E}">
        <p14:creationId xmlns:p14="http://schemas.microsoft.com/office/powerpoint/2010/main" val="351083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F2755F-508F-41CA-B27E-0C286AA03BE4}" type="datetimeFigureOut">
              <a:rPr lang="en-GB" smtClean="0"/>
              <a:t>04/06/2025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DB31F4F-98EE-449C-B8F9-BB47E3C143A9}" type="slidenum">
              <a:rPr lang="en-GB" smtClean="0"/>
              <a:t>‹#›</a:t>
            </a:fld>
            <a:endParaRPr lang="en-GB"/>
          </a:p>
        </p:txBody>
      </p:sp>
    </p:spTree>
    <p:extLst>
      <p:ext uri="{BB962C8B-B14F-4D97-AF65-F5344CB8AC3E}">
        <p14:creationId xmlns:p14="http://schemas.microsoft.com/office/powerpoint/2010/main" val="4052071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5F2755F-508F-41CA-B27E-0C286AA03BE4}" type="datetimeFigureOut">
              <a:rPr lang="en-GB" smtClean="0"/>
              <a:t>04/06/2025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DB31F4F-98EE-449C-B8F9-BB47E3C143A9}" type="slidenum">
              <a:rPr lang="en-GB" smtClean="0"/>
              <a:t>‹#›</a:t>
            </a:fld>
            <a:endParaRPr lang="en-GB"/>
          </a:p>
        </p:txBody>
      </p:sp>
    </p:spTree>
    <p:extLst>
      <p:ext uri="{BB962C8B-B14F-4D97-AF65-F5344CB8AC3E}">
        <p14:creationId xmlns:p14="http://schemas.microsoft.com/office/powerpoint/2010/main" val="1273364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5F2755F-508F-41CA-B27E-0C286AA03BE4}" type="datetimeFigureOut">
              <a:rPr lang="en-GB" smtClean="0"/>
              <a:t>04/06/2025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DB31F4F-98EE-449C-B8F9-BB47E3C143A9}" type="slidenum">
              <a:rPr lang="en-GB" smtClean="0"/>
              <a:t>‹#›</a:t>
            </a:fld>
            <a:endParaRPr lang="en-GB"/>
          </a:p>
        </p:txBody>
      </p:sp>
    </p:spTree>
    <p:extLst>
      <p:ext uri="{BB962C8B-B14F-4D97-AF65-F5344CB8AC3E}">
        <p14:creationId xmlns:p14="http://schemas.microsoft.com/office/powerpoint/2010/main" val="3128351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5F2755F-508F-41CA-B27E-0C286AA03BE4}" type="datetimeFigureOut">
              <a:rPr lang="en-GB" smtClean="0"/>
              <a:t>04/06/2025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B31F4F-98EE-449C-B8F9-BB47E3C143A9}" type="slidenum">
              <a:rPr lang="en-GB" smtClean="0"/>
              <a:t>‹#›</a:t>
            </a:fld>
            <a:endParaRPr lang="en-GB"/>
          </a:p>
        </p:txBody>
      </p:sp>
    </p:spTree>
    <p:extLst>
      <p:ext uri="{BB962C8B-B14F-4D97-AF65-F5344CB8AC3E}">
        <p14:creationId xmlns:p14="http://schemas.microsoft.com/office/powerpoint/2010/main" val="3206268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5F2755F-508F-41CA-B27E-0C286AA03BE4}" type="datetimeFigureOut">
              <a:rPr lang="en-GB" smtClean="0"/>
              <a:t>04/06/2025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B31F4F-98EE-449C-B8F9-BB47E3C143A9}" type="slidenum">
              <a:rPr lang="en-GB" smtClean="0"/>
              <a:t>‹#›</a:t>
            </a:fld>
            <a:endParaRPr lang="en-GB"/>
          </a:p>
        </p:txBody>
      </p:sp>
    </p:spTree>
    <p:extLst>
      <p:ext uri="{BB962C8B-B14F-4D97-AF65-F5344CB8AC3E}">
        <p14:creationId xmlns:p14="http://schemas.microsoft.com/office/powerpoint/2010/main" val="3257083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F2755F-508F-41CA-B27E-0C286AA03BE4}" type="datetimeFigureOut">
              <a:rPr lang="en-GB" smtClean="0"/>
              <a:t>04/06/2025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B31F4F-98EE-449C-B8F9-BB47E3C143A9}" type="slidenum">
              <a:rPr lang="en-GB" smtClean="0"/>
              <a:t>‹#›</a:t>
            </a:fld>
            <a:endParaRPr lang="en-GB"/>
          </a:p>
        </p:txBody>
      </p:sp>
    </p:spTree>
    <p:extLst>
      <p:ext uri="{BB962C8B-B14F-4D97-AF65-F5344CB8AC3E}">
        <p14:creationId xmlns:p14="http://schemas.microsoft.com/office/powerpoint/2010/main" val="22886568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4.png"/><Relationship Id="rId7" Type="http://schemas.openxmlformats.org/officeDocument/2006/relationships/image" Target="../media/image9.emf"/><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2.jpe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emf"/></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emf"/></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9.jpe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emf"/></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5.pn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emf"/></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emf"/></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jpe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51.pn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5.jpeg"/><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CB6884A-13E0-4A66-85DD-00FA70BB76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551" y="1943522"/>
            <a:ext cx="9578898" cy="2970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639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68A18A-46BE-4868-9E8C-2305FE5C92F3}"/>
              </a:ext>
            </a:extLst>
          </p:cNvPr>
          <p:cNvPicPr>
            <a:picLocks noChangeAspect="1"/>
          </p:cNvPicPr>
          <p:nvPr/>
        </p:nvPicPr>
        <p:blipFill>
          <a:blip r:embed="rId2"/>
          <a:stretch>
            <a:fillRect/>
          </a:stretch>
        </p:blipFill>
        <p:spPr>
          <a:xfrm>
            <a:off x="0" y="-11430"/>
            <a:ext cx="12192000" cy="965314"/>
          </a:xfrm>
          <a:prstGeom prst="rect">
            <a:avLst/>
          </a:prstGeom>
        </p:spPr>
      </p:pic>
      <p:sp>
        <p:nvSpPr>
          <p:cNvPr id="5" name="TextBox 4">
            <a:extLst>
              <a:ext uri="{FF2B5EF4-FFF2-40B4-BE49-F238E27FC236}">
                <a16:creationId xmlns:a16="http://schemas.microsoft.com/office/drawing/2014/main" id="{36792242-F5A3-41A6-9E99-B85F3C34CEF0}"/>
              </a:ext>
            </a:extLst>
          </p:cNvPr>
          <p:cNvSpPr txBox="1"/>
          <p:nvPr/>
        </p:nvSpPr>
        <p:spPr>
          <a:xfrm>
            <a:off x="0" y="117283"/>
            <a:ext cx="12192000" cy="707886"/>
          </a:xfrm>
          <a:prstGeom prst="rect">
            <a:avLst/>
          </a:prstGeom>
          <a:noFill/>
        </p:spPr>
        <p:txBody>
          <a:bodyPr wrap="square" rtlCol="0">
            <a:spAutoFit/>
          </a:bodyPr>
          <a:lstStyle/>
          <a:p>
            <a:pPr algn="ctr"/>
            <a:r>
              <a:rPr lang="en-US" sz="4000" u="none" strike="noStrike" baseline="0" dirty="0">
                <a:solidFill>
                  <a:schemeClr val="bg1"/>
                </a:solidFill>
                <a:latin typeface="+mj-lt"/>
              </a:rPr>
              <a:t>IGLOO HISTORY</a:t>
            </a:r>
          </a:p>
        </p:txBody>
      </p:sp>
      <p:sp>
        <p:nvSpPr>
          <p:cNvPr id="6" name="TextBox 5">
            <a:extLst>
              <a:ext uri="{FF2B5EF4-FFF2-40B4-BE49-F238E27FC236}">
                <a16:creationId xmlns:a16="http://schemas.microsoft.com/office/drawing/2014/main" id="{941C2F73-F8B5-4ACD-ACEB-015B1A51150D}"/>
              </a:ext>
            </a:extLst>
          </p:cNvPr>
          <p:cNvSpPr txBox="1"/>
          <p:nvPr/>
        </p:nvSpPr>
        <p:spPr>
          <a:xfrm>
            <a:off x="161239" y="1332502"/>
            <a:ext cx="7532325" cy="5078313"/>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rgbClr val="000000"/>
                </a:solidFill>
                <a:effectLst/>
                <a:latin typeface="Nexa"/>
              </a:rPr>
              <a:t>Born from a modest metalworking shop back in 1947, Igloo has been instrumental in redefining how we live, work and play. </a:t>
            </a:r>
            <a:endParaRPr lang="en-US" dirty="0">
              <a:solidFill>
                <a:srgbClr val="000000"/>
              </a:solidFill>
              <a:latin typeface="Nexa"/>
            </a:endParaRPr>
          </a:p>
          <a:p>
            <a:pPr marL="285750" indent="-285750" algn="l">
              <a:buFont typeface="Arial" panose="020B0604020202020204" pitchFamily="34" charset="0"/>
              <a:buChar char="•"/>
            </a:pPr>
            <a:r>
              <a:rPr lang="en-US" b="0" i="0" dirty="0">
                <a:solidFill>
                  <a:srgbClr val="000000"/>
                </a:solidFill>
                <a:effectLst/>
                <a:latin typeface="Nexa"/>
              </a:rPr>
              <a:t>What began with bringing clean water to the worksite quickly moved into super-functional, best in class ice chests.</a:t>
            </a:r>
          </a:p>
          <a:p>
            <a:pPr marL="285750" indent="-285750" algn="l">
              <a:buFont typeface="Arial" panose="020B0604020202020204" pitchFamily="34" charset="0"/>
              <a:buChar char="•"/>
            </a:pPr>
            <a:r>
              <a:rPr lang="en-US" b="0" i="0" dirty="0">
                <a:solidFill>
                  <a:srgbClr val="000000"/>
                </a:solidFill>
                <a:effectLst/>
                <a:latin typeface="Nexa"/>
              </a:rPr>
              <a:t>Igloo products made the family outdoor recreation movement of the 20th century possible.</a:t>
            </a:r>
          </a:p>
          <a:p>
            <a:pPr marL="285750" indent="-285750" algn="l">
              <a:buFont typeface="Arial" panose="020B0604020202020204" pitchFamily="34" charset="0"/>
              <a:buChar char="•"/>
            </a:pPr>
            <a:r>
              <a:rPr lang="en-US" b="0" i="0" dirty="0">
                <a:solidFill>
                  <a:srgbClr val="000000"/>
                </a:solidFill>
                <a:effectLst/>
                <a:latin typeface="Nexa"/>
              </a:rPr>
              <a:t>Suddenly, taking your kids camping on the weekend became easy and cross-country </a:t>
            </a:r>
            <a:r>
              <a:rPr lang="en-US" b="0" i="0" dirty="0" err="1">
                <a:solidFill>
                  <a:srgbClr val="000000"/>
                </a:solidFill>
                <a:effectLst/>
                <a:latin typeface="Nexa"/>
              </a:rPr>
              <a:t>roadtrips</a:t>
            </a:r>
            <a:r>
              <a:rPr lang="en-US" b="0" i="0" dirty="0">
                <a:solidFill>
                  <a:srgbClr val="000000"/>
                </a:solidFill>
                <a:effectLst/>
                <a:latin typeface="Nexa"/>
              </a:rPr>
              <a:t> became a summer vacation staple.</a:t>
            </a:r>
          </a:p>
          <a:p>
            <a:pPr marL="285750" indent="-285750" algn="l">
              <a:buFont typeface="Arial" panose="020B0604020202020204" pitchFamily="34" charset="0"/>
              <a:buChar char="•"/>
            </a:pPr>
            <a:r>
              <a:rPr lang="en-US" b="0" i="0" dirty="0">
                <a:solidFill>
                  <a:srgbClr val="000000"/>
                </a:solidFill>
                <a:effectLst/>
                <a:latin typeface="Nexa"/>
              </a:rPr>
              <a:t>As we approach our next century, Igloo is 1200 employees strong. </a:t>
            </a:r>
          </a:p>
          <a:p>
            <a:pPr marL="285750" indent="-285750" algn="l">
              <a:buFont typeface="Arial" panose="020B0604020202020204" pitchFamily="34" charset="0"/>
              <a:buChar char="•"/>
            </a:pPr>
            <a:r>
              <a:rPr lang="en-US" b="0" i="0" dirty="0">
                <a:solidFill>
                  <a:srgbClr val="000000"/>
                </a:solidFill>
                <a:effectLst/>
                <a:latin typeface="Nexa"/>
              </a:rPr>
              <a:t>We are proud to call—a 1.8 million square-foot, three-building facility in—Katy, Texas home. </a:t>
            </a:r>
          </a:p>
          <a:p>
            <a:pPr marL="285750" indent="-285750" algn="l">
              <a:buFont typeface="Arial" panose="020B0604020202020204" pitchFamily="34" charset="0"/>
              <a:buChar char="•"/>
            </a:pPr>
            <a:r>
              <a:rPr lang="en-US" b="0" i="0" dirty="0">
                <a:solidFill>
                  <a:srgbClr val="000000"/>
                </a:solidFill>
                <a:effectLst/>
                <a:latin typeface="Nexa"/>
              </a:rPr>
              <a:t>More than 500 products sold at </a:t>
            </a:r>
            <a:r>
              <a:rPr lang="en-US" b="0" i="0" dirty="0" err="1">
                <a:solidFill>
                  <a:srgbClr val="000000"/>
                </a:solidFill>
                <a:effectLst/>
                <a:latin typeface="Nexa"/>
              </a:rPr>
              <a:t>Thouands</a:t>
            </a:r>
            <a:r>
              <a:rPr lang="en-US" b="0" i="0" dirty="0">
                <a:solidFill>
                  <a:srgbClr val="000000"/>
                </a:solidFill>
                <a:effectLst/>
                <a:latin typeface="Nexa"/>
              </a:rPr>
              <a:t> of retailers around the globe, we can confidently call ourselves the number one cooler manufacturer in the world.</a:t>
            </a:r>
          </a:p>
          <a:p>
            <a:pPr marL="285750" indent="-285750" algn="l">
              <a:buFont typeface="Arial" panose="020B0604020202020204" pitchFamily="34" charset="0"/>
              <a:buChar char="•"/>
            </a:pPr>
            <a:r>
              <a:rPr lang="en-US" b="0" i="0" dirty="0">
                <a:solidFill>
                  <a:srgbClr val="000000"/>
                </a:solidFill>
                <a:effectLst/>
                <a:latin typeface="Nexa"/>
              </a:rPr>
              <a:t>And through it all we haven’t lost sight of our original goal—to create products that enable the pursuit of happiness (however you define it). That’s why we’re still working hard every day to innovate, create, and make it easier for you to get out, work hard and play even harder.</a:t>
            </a:r>
          </a:p>
        </p:txBody>
      </p:sp>
      <p:pic>
        <p:nvPicPr>
          <p:cNvPr id="5126" name="Picture 6" descr="1975 Igloo Cooler Ice Chest Houston Guaranteed Not To Spoil Your Picnic  Print Ad | eBay">
            <a:extLst>
              <a:ext uri="{FF2B5EF4-FFF2-40B4-BE49-F238E27FC236}">
                <a16:creationId xmlns:a16="http://schemas.microsoft.com/office/drawing/2014/main" id="{07074A90-3D3D-4627-BD16-04887D06596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12" r="3423" b="2540"/>
          <a:stretch/>
        </p:blipFill>
        <p:spPr bwMode="auto">
          <a:xfrm>
            <a:off x="7881341" y="953885"/>
            <a:ext cx="4310659" cy="590411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0BA20996-0D9B-4C88-A179-68879147EDB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277832"/>
            <a:ext cx="1247078" cy="386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8004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DE023A-2C03-4CAF-ACC8-4E232FB58473}"/>
              </a:ext>
            </a:extLst>
          </p:cNvPr>
          <p:cNvPicPr>
            <a:picLocks noChangeAspect="1"/>
          </p:cNvPicPr>
          <p:nvPr/>
        </p:nvPicPr>
        <p:blipFill>
          <a:blip r:embed="rId2"/>
          <a:stretch>
            <a:fillRect/>
          </a:stretch>
        </p:blipFill>
        <p:spPr>
          <a:xfrm>
            <a:off x="-1" y="0"/>
            <a:ext cx="12192001" cy="6843783"/>
          </a:xfrm>
          <a:prstGeom prst="rect">
            <a:avLst/>
          </a:prstGeom>
        </p:spPr>
      </p:pic>
    </p:spTree>
    <p:extLst>
      <p:ext uri="{BB962C8B-B14F-4D97-AF65-F5344CB8AC3E}">
        <p14:creationId xmlns:p14="http://schemas.microsoft.com/office/powerpoint/2010/main" val="2274147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BD0DEF4-CD1B-4B7B-AA10-F8938222376F}"/>
              </a:ext>
            </a:extLst>
          </p:cNvPr>
          <p:cNvPicPr>
            <a:picLocks noChangeAspect="1"/>
          </p:cNvPicPr>
          <p:nvPr/>
        </p:nvPicPr>
        <p:blipFill>
          <a:blip r:embed="rId2"/>
          <a:stretch>
            <a:fillRect/>
          </a:stretch>
        </p:blipFill>
        <p:spPr>
          <a:xfrm>
            <a:off x="0" y="0"/>
            <a:ext cx="12206182" cy="965314"/>
          </a:xfrm>
          <a:prstGeom prst="rect">
            <a:avLst/>
          </a:prstGeom>
        </p:spPr>
      </p:pic>
      <p:sp>
        <p:nvSpPr>
          <p:cNvPr id="12" name="TextBox 11">
            <a:extLst>
              <a:ext uri="{FF2B5EF4-FFF2-40B4-BE49-F238E27FC236}">
                <a16:creationId xmlns:a16="http://schemas.microsoft.com/office/drawing/2014/main" id="{823B38AF-58BA-4CB1-A2FA-A096B3FDC4F2}"/>
              </a:ext>
            </a:extLst>
          </p:cNvPr>
          <p:cNvSpPr txBox="1"/>
          <p:nvPr/>
        </p:nvSpPr>
        <p:spPr>
          <a:xfrm>
            <a:off x="0" y="128713"/>
            <a:ext cx="12206182" cy="707886"/>
          </a:xfrm>
          <a:prstGeom prst="rect">
            <a:avLst/>
          </a:prstGeom>
          <a:noFill/>
        </p:spPr>
        <p:txBody>
          <a:bodyPr wrap="square" rtlCol="0">
            <a:spAutoFit/>
          </a:bodyPr>
          <a:lstStyle/>
          <a:p>
            <a:pPr algn="ctr"/>
            <a:r>
              <a:rPr lang="en-US" sz="4000" b="1" u="none" strike="noStrike" baseline="0" dirty="0">
                <a:solidFill>
                  <a:schemeClr val="bg1"/>
                </a:solidFill>
                <a:latin typeface="+mj-lt"/>
              </a:rPr>
              <a:t>ICE BLOCKS</a:t>
            </a:r>
          </a:p>
        </p:txBody>
      </p:sp>
      <p:pic>
        <p:nvPicPr>
          <p:cNvPr id="16" name="Picture 2">
            <a:extLst>
              <a:ext uri="{FF2B5EF4-FFF2-40B4-BE49-F238E27FC236}">
                <a16:creationId xmlns:a16="http://schemas.microsoft.com/office/drawing/2014/main" id="{6122626B-8E0F-43CC-9BC5-379BF14FF4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135" y="289261"/>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16B9C39-4DDC-4EFE-AB9A-B28635C4A2DD}"/>
              </a:ext>
            </a:extLst>
          </p:cNvPr>
          <p:cNvSpPr/>
          <p:nvPr/>
        </p:nvSpPr>
        <p:spPr>
          <a:xfrm>
            <a:off x="10232497" y="5741473"/>
            <a:ext cx="1757508"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5.25 JD’s</a:t>
            </a:r>
          </a:p>
        </p:txBody>
      </p:sp>
      <p:pic>
        <p:nvPicPr>
          <p:cNvPr id="1026" name="Picture 2" descr="Igloo 25197 $2.21 Reusable Ice Block, 5-1/4x3/4x4-1/4 in. | Zoro.com">
            <a:extLst>
              <a:ext uri="{FF2B5EF4-FFF2-40B4-BE49-F238E27FC236}">
                <a16:creationId xmlns:a16="http://schemas.microsoft.com/office/drawing/2014/main" id="{396095DD-2311-4C6A-A04A-A53C5CFF0CD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935" r="11712" b="2362"/>
          <a:stretch/>
        </p:blipFill>
        <p:spPr bwMode="auto">
          <a:xfrm>
            <a:off x="1724024" y="3199830"/>
            <a:ext cx="1519929" cy="194367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mazon.com : igloo corporation 25201 Maxcold, Large, Ice Block : Cooler  Accessories : Sports &amp; Outdoors">
            <a:extLst>
              <a:ext uri="{FF2B5EF4-FFF2-40B4-BE49-F238E27FC236}">
                <a16:creationId xmlns:a16="http://schemas.microsoft.com/office/drawing/2014/main" id="{FC9CD01A-BE43-4F2B-8122-80F1FC7DB6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87467" y="1589567"/>
            <a:ext cx="1945030" cy="367886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3C8A78B7-EE3A-4911-9471-C69DF87FE109}"/>
              </a:ext>
            </a:extLst>
          </p:cNvPr>
          <p:cNvSpPr/>
          <p:nvPr/>
        </p:nvSpPr>
        <p:spPr>
          <a:xfrm>
            <a:off x="2566842" y="5894351"/>
            <a:ext cx="1757508"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2.00 JD’s</a:t>
            </a:r>
          </a:p>
        </p:txBody>
      </p:sp>
      <p:pic>
        <p:nvPicPr>
          <p:cNvPr id="3" name="Picture 2">
            <a:extLst>
              <a:ext uri="{FF2B5EF4-FFF2-40B4-BE49-F238E27FC236}">
                <a16:creationId xmlns:a16="http://schemas.microsoft.com/office/drawing/2014/main" id="{3A58D8C3-B15B-4A5B-9963-89B24787D199}"/>
              </a:ext>
            </a:extLst>
          </p:cNvPr>
          <p:cNvPicPr>
            <a:picLocks noChangeAspect="1"/>
          </p:cNvPicPr>
          <p:nvPr/>
        </p:nvPicPr>
        <p:blipFill>
          <a:blip r:embed="rId6"/>
          <a:stretch>
            <a:fillRect/>
          </a:stretch>
        </p:blipFill>
        <p:spPr>
          <a:xfrm>
            <a:off x="88135" y="1269236"/>
            <a:ext cx="6252195" cy="1674803"/>
          </a:xfrm>
          <a:prstGeom prst="rect">
            <a:avLst/>
          </a:prstGeom>
        </p:spPr>
      </p:pic>
      <p:pic>
        <p:nvPicPr>
          <p:cNvPr id="5" name="Picture 4">
            <a:extLst>
              <a:ext uri="{FF2B5EF4-FFF2-40B4-BE49-F238E27FC236}">
                <a16:creationId xmlns:a16="http://schemas.microsoft.com/office/drawing/2014/main" id="{1DCBD9B8-AE8B-4890-B59A-29B2A4BEDEF0}"/>
              </a:ext>
            </a:extLst>
          </p:cNvPr>
          <p:cNvPicPr>
            <a:picLocks noChangeAspect="1"/>
          </p:cNvPicPr>
          <p:nvPr/>
        </p:nvPicPr>
        <p:blipFill>
          <a:blip r:embed="rId7"/>
          <a:stretch>
            <a:fillRect/>
          </a:stretch>
        </p:blipFill>
        <p:spPr>
          <a:xfrm>
            <a:off x="711674" y="5797058"/>
            <a:ext cx="1448698" cy="858680"/>
          </a:xfrm>
          <a:prstGeom prst="rect">
            <a:avLst/>
          </a:prstGeom>
        </p:spPr>
      </p:pic>
      <p:pic>
        <p:nvPicPr>
          <p:cNvPr id="7" name="Picture 6">
            <a:extLst>
              <a:ext uri="{FF2B5EF4-FFF2-40B4-BE49-F238E27FC236}">
                <a16:creationId xmlns:a16="http://schemas.microsoft.com/office/drawing/2014/main" id="{602057B0-1BE2-42A3-924D-0B52A9BC83DB}"/>
              </a:ext>
            </a:extLst>
          </p:cNvPr>
          <p:cNvPicPr>
            <a:picLocks noChangeAspect="1"/>
          </p:cNvPicPr>
          <p:nvPr/>
        </p:nvPicPr>
        <p:blipFill>
          <a:blip r:embed="rId8"/>
          <a:stretch>
            <a:fillRect/>
          </a:stretch>
        </p:blipFill>
        <p:spPr>
          <a:xfrm>
            <a:off x="8330743" y="5741473"/>
            <a:ext cx="1294415" cy="725778"/>
          </a:xfrm>
          <a:prstGeom prst="rect">
            <a:avLst/>
          </a:prstGeom>
        </p:spPr>
      </p:pic>
    </p:spTree>
    <p:extLst>
      <p:ext uri="{BB962C8B-B14F-4D97-AF65-F5344CB8AC3E}">
        <p14:creationId xmlns:p14="http://schemas.microsoft.com/office/powerpoint/2010/main" val="1738091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BD0DEF4-CD1B-4B7B-AA10-F8938222376F}"/>
              </a:ext>
            </a:extLst>
          </p:cNvPr>
          <p:cNvPicPr>
            <a:picLocks noChangeAspect="1"/>
          </p:cNvPicPr>
          <p:nvPr/>
        </p:nvPicPr>
        <p:blipFill>
          <a:blip r:embed="rId2"/>
          <a:stretch>
            <a:fillRect/>
          </a:stretch>
        </p:blipFill>
        <p:spPr>
          <a:xfrm>
            <a:off x="0" y="0"/>
            <a:ext cx="12206182" cy="965314"/>
          </a:xfrm>
          <a:prstGeom prst="rect">
            <a:avLst/>
          </a:prstGeom>
        </p:spPr>
      </p:pic>
      <p:sp>
        <p:nvSpPr>
          <p:cNvPr id="12" name="TextBox 11">
            <a:extLst>
              <a:ext uri="{FF2B5EF4-FFF2-40B4-BE49-F238E27FC236}">
                <a16:creationId xmlns:a16="http://schemas.microsoft.com/office/drawing/2014/main" id="{823B38AF-58BA-4CB1-A2FA-A096B3FDC4F2}"/>
              </a:ext>
            </a:extLst>
          </p:cNvPr>
          <p:cNvSpPr txBox="1"/>
          <p:nvPr/>
        </p:nvSpPr>
        <p:spPr>
          <a:xfrm>
            <a:off x="0" y="128713"/>
            <a:ext cx="12206182" cy="707886"/>
          </a:xfrm>
          <a:prstGeom prst="rect">
            <a:avLst/>
          </a:prstGeom>
          <a:noFill/>
        </p:spPr>
        <p:txBody>
          <a:bodyPr wrap="square" rtlCol="0">
            <a:spAutoFit/>
          </a:bodyPr>
          <a:lstStyle/>
          <a:p>
            <a:pPr algn="ctr"/>
            <a:r>
              <a:rPr lang="en-US" sz="4000" b="1" u="none" strike="noStrike" baseline="0" dirty="0">
                <a:solidFill>
                  <a:schemeClr val="bg1"/>
                </a:solidFill>
                <a:latin typeface="+mj-lt"/>
              </a:rPr>
              <a:t>ICE BLOCKS</a:t>
            </a:r>
          </a:p>
        </p:txBody>
      </p:sp>
      <p:pic>
        <p:nvPicPr>
          <p:cNvPr id="16" name="Picture 2">
            <a:extLst>
              <a:ext uri="{FF2B5EF4-FFF2-40B4-BE49-F238E27FC236}">
                <a16:creationId xmlns:a16="http://schemas.microsoft.com/office/drawing/2014/main" id="{6122626B-8E0F-43CC-9BC5-379BF14FF4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135" y="289261"/>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16B9C39-4DDC-4EFE-AB9A-B28635C4A2DD}"/>
              </a:ext>
            </a:extLst>
          </p:cNvPr>
          <p:cNvSpPr/>
          <p:nvPr/>
        </p:nvSpPr>
        <p:spPr>
          <a:xfrm>
            <a:off x="10232497" y="3024611"/>
            <a:ext cx="1749953"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7.50 JD’s</a:t>
            </a:r>
          </a:p>
        </p:txBody>
      </p:sp>
      <p:pic>
        <p:nvPicPr>
          <p:cNvPr id="2" name="Picture 1">
            <a:extLst>
              <a:ext uri="{FF2B5EF4-FFF2-40B4-BE49-F238E27FC236}">
                <a16:creationId xmlns:a16="http://schemas.microsoft.com/office/drawing/2014/main" id="{439637FF-EEA2-4847-9C37-8CCBE6BC269B}"/>
              </a:ext>
            </a:extLst>
          </p:cNvPr>
          <p:cNvPicPr>
            <a:picLocks noChangeAspect="1"/>
          </p:cNvPicPr>
          <p:nvPr/>
        </p:nvPicPr>
        <p:blipFill>
          <a:blip r:embed="rId4"/>
          <a:stretch>
            <a:fillRect/>
          </a:stretch>
        </p:blipFill>
        <p:spPr>
          <a:xfrm>
            <a:off x="209550" y="1433302"/>
            <a:ext cx="2533650" cy="1800225"/>
          </a:xfrm>
          <a:prstGeom prst="rect">
            <a:avLst/>
          </a:prstGeom>
        </p:spPr>
      </p:pic>
      <p:sp>
        <p:nvSpPr>
          <p:cNvPr id="9" name="TextBox 8">
            <a:extLst>
              <a:ext uri="{FF2B5EF4-FFF2-40B4-BE49-F238E27FC236}">
                <a16:creationId xmlns:a16="http://schemas.microsoft.com/office/drawing/2014/main" id="{756816E1-BCB3-4F5A-938F-3398DCDA48C5}"/>
              </a:ext>
            </a:extLst>
          </p:cNvPr>
          <p:cNvSpPr txBox="1"/>
          <p:nvPr/>
        </p:nvSpPr>
        <p:spPr>
          <a:xfrm>
            <a:off x="88135" y="3420428"/>
            <a:ext cx="6400727" cy="1200329"/>
          </a:xfrm>
          <a:prstGeom prst="rect">
            <a:avLst/>
          </a:prstGeom>
          <a:noFill/>
        </p:spPr>
        <p:txBody>
          <a:bodyPr wrap="none" rtlCol="0">
            <a:spAutoFit/>
          </a:bodyPr>
          <a:lstStyle/>
          <a:p>
            <a:r>
              <a:rPr lang="en-US" b="1" dirty="0"/>
              <a:t>About this item</a:t>
            </a:r>
          </a:p>
          <a:p>
            <a:r>
              <a:rPr lang="en-US" dirty="0"/>
              <a:t>* Uses non-toxic </a:t>
            </a:r>
            <a:r>
              <a:rPr lang="en-US" dirty="0" err="1"/>
              <a:t>Ultratherm</a:t>
            </a:r>
            <a:r>
              <a:rPr lang="en-US" dirty="0"/>
              <a:t> gel for extended cooling performance</a:t>
            </a:r>
          </a:p>
          <a:p>
            <a:r>
              <a:rPr lang="en-US" dirty="0"/>
              <a:t>* Each reusable pouch contains 8-ounces of freezable gel</a:t>
            </a:r>
          </a:p>
          <a:p>
            <a:r>
              <a:rPr lang="en-US" dirty="0"/>
              <a:t>* Soft pouch molds to fit around items for localized intense cold</a:t>
            </a:r>
          </a:p>
        </p:txBody>
      </p:sp>
      <p:sp>
        <p:nvSpPr>
          <p:cNvPr id="17" name="TextBox 16">
            <a:extLst>
              <a:ext uri="{FF2B5EF4-FFF2-40B4-BE49-F238E27FC236}">
                <a16:creationId xmlns:a16="http://schemas.microsoft.com/office/drawing/2014/main" id="{97B2C6FC-5E5F-454C-939E-07FB87E2305D}"/>
              </a:ext>
            </a:extLst>
          </p:cNvPr>
          <p:cNvSpPr txBox="1"/>
          <p:nvPr/>
        </p:nvSpPr>
        <p:spPr>
          <a:xfrm>
            <a:off x="0" y="5251959"/>
            <a:ext cx="3291863" cy="1477328"/>
          </a:xfrm>
          <a:prstGeom prst="rect">
            <a:avLst/>
          </a:prstGeom>
          <a:noFill/>
        </p:spPr>
        <p:txBody>
          <a:bodyPr wrap="none" rtlCol="0">
            <a:spAutoFit/>
          </a:bodyPr>
          <a:lstStyle/>
          <a:p>
            <a:r>
              <a:rPr lang="en-US" dirty="0"/>
              <a:t>Item Code: IGL/25076</a:t>
            </a:r>
          </a:p>
          <a:p>
            <a:r>
              <a:rPr lang="en-US" dirty="0"/>
              <a:t>Item Desc: Igloo Ice Soft Gel Pack</a:t>
            </a:r>
          </a:p>
          <a:p>
            <a:r>
              <a:rPr lang="en-US" dirty="0"/>
              <a:t>VAT: 16%</a:t>
            </a:r>
          </a:p>
          <a:p>
            <a:r>
              <a:rPr lang="en-US" dirty="0"/>
              <a:t>RP: 2.75</a:t>
            </a:r>
          </a:p>
          <a:p>
            <a:r>
              <a:rPr lang="en-US" dirty="0"/>
              <a:t>MOQ: 12 Pack: 12 Case:12</a:t>
            </a:r>
          </a:p>
        </p:txBody>
      </p:sp>
      <p:sp>
        <p:nvSpPr>
          <p:cNvPr id="18" name="Rectangle: Rounded Corners 17">
            <a:extLst>
              <a:ext uri="{FF2B5EF4-FFF2-40B4-BE49-F238E27FC236}">
                <a16:creationId xmlns:a16="http://schemas.microsoft.com/office/drawing/2014/main" id="{00FE75B3-E51F-4743-914E-8885593F6D21}"/>
              </a:ext>
            </a:extLst>
          </p:cNvPr>
          <p:cNvSpPr/>
          <p:nvPr/>
        </p:nvSpPr>
        <p:spPr>
          <a:xfrm>
            <a:off x="2926822" y="2047471"/>
            <a:ext cx="1740428"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2.75 JD’s</a:t>
            </a:r>
          </a:p>
        </p:txBody>
      </p:sp>
      <p:pic>
        <p:nvPicPr>
          <p:cNvPr id="10" name="Picture 9">
            <a:extLst>
              <a:ext uri="{FF2B5EF4-FFF2-40B4-BE49-F238E27FC236}">
                <a16:creationId xmlns:a16="http://schemas.microsoft.com/office/drawing/2014/main" id="{BBF0FF35-B2EB-4346-ADB0-AA6742EB4F14}"/>
              </a:ext>
            </a:extLst>
          </p:cNvPr>
          <p:cNvPicPr>
            <a:picLocks noChangeAspect="1"/>
          </p:cNvPicPr>
          <p:nvPr/>
        </p:nvPicPr>
        <p:blipFill rotWithShape="1">
          <a:blip r:embed="rId5"/>
          <a:srcRect l="8666" t="19333" r="15023" b="19333"/>
          <a:stretch/>
        </p:blipFill>
        <p:spPr>
          <a:xfrm>
            <a:off x="9625159" y="1094027"/>
            <a:ext cx="2401980" cy="1930584"/>
          </a:xfrm>
          <a:prstGeom prst="rect">
            <a:avLst/>
          </a:prstGeom>
        </p:spPr>
      </p:pic>
      <p:pic>
        <p:nvPicPr>
          <p:cNvPr id="13" name="Picture 12">
            <a:extLst>
              <a:ext uri="{FF2B5EF4-FFF2-40B4-BE49-F238E27FC236}">
                <a16:creationId xmlns:a16="http://schemas.microsoft.com/office/drawing/2014/main" id="{7FA74BB5-6EED-4651-A443-2E76D470F7F8}"/>
              </a:ext>
            </a:extLst>
          </p:cNvPr>
          <p:cNvPicPr>
            <a:picLocks noChangeAspect="1"/>
          </p:cNvPicPr>
          <p:nvPr/>
        </p:nvPicPr>
        <p:blipFill>
          <a:blip r:embed="rId6"/>
          <a:stretch>
            <a:fillRect/>
          </a:stretch>
        </p:blipFill>
        <p:spPr>
          <a:xfrm>
            <a:off x="7629777" y="1433302"/>
            <a:ext cx="1457325" cy="2857500"/>
          </a:xfrm>
          <a:prstGeom prst="rect">
            <a:avLst/>
          </a:prstGeom>
        </p:spPr>
      </p:pic>
      <p:sp>
        <p:nvSpPr>
          <p:cNvPr id="22" name="TextBox 21">
            <a:extLst>
              <a:ext uri="{FF2B5EF4-FFF2-40B4-BE49-F238E27FC236}">
                <a16:creationId xmlns:a16="http://schemas.microsoft.com/office/drawing/2014/main" id="{39C3369E-BBA8-4778-9E51-969CB46C9715}"/>
              </a:ext>
            </a:extLst>
          </p:cNvPr>
          <p:cNvSpPr txBox="1"/>
          <p:nvPr/>
        </p:nvSpPr>
        <p:spPr>
          <a:xfrm>
            <a:off x="7839075" y="4686034"/>
            <a:ext cx="4175182" cy="1477328"/>
          </a:xfrm>
          <a:prstGeom prst="rect">
            <a:avLst/>
          </a:prstGeom>
          <a:noFill/>
        </p:spPr>
        <p:txBody>
          <a:bodyPr wrap="none" rtlCol="0">
            <a:spAutoFit/>
          </a:bodyPr>
          <a:lstStyle/>
          <a:p>
            <a:r>
              <a:rPr lang="en-US" dirty="0"/>
              <a:t>Item Code: IGL/25078</a:t>
            </a:r>
          </a:p>
          <a:p>
            <a:r>
              <a:rPr lang="en-US" dirty="0"/>
              <a:t>Item Desc: Igloo Natural Ice Sheet 44 Cube</a:t>
            </a:r>
          </a:p>
          <a:p>
            <a:r>
              <a:rPr lang="en-US" dirty="0"/>
              <a:t>VAT: 16%</a:t>
            </a:r>
          </a:p>
          <a:p>
            <a:r>
              <a:rPr lang="en-US" dirty="0"/>
              <a:t>RP: 7.50</a:t>
            </a:r>
          </a:p>
          <a:p>
            <a:r>
              <a:rPr lang="en-US" dirty="0"/>
              <a:t>MOQ: 6 Pack: 6 Case: 6</a:t>
            </a:r>
          </a:p>
        </p:txBody>
      </p:sp>
      <p:pic>
        <p:nvPicPr>
          <p:cNvPr id="3" name="Picture 2">
            <a:extLst>
              <a:ext uri="{FF2B5EF4-FFF2-40B4-BE49-F238E27FC236}">
                <a16:creationId xmlns:a16="http://schemas.microsoft.com/office/drawing/2014/main" id="{E4B4C0F2-6D40-46A1-8324-3AF828024A5C}"/>
              </a:ext>
            </a:extLst>
          </p:cNvPr>
          <p:cNvPicPr>
            <a:picLocks noChangeAspect="1"/>
          </p:cNvPicPr>
          <p:nvPr/>
        </p:nvPicPr>
        <p:blipFill>
          <a:blip r:embed="rId7"/>
          <a:stretch>
            <a:fillRect/>
          </a:stretch>
        </p:blipFill>
        <p:spPr>
          <a:xfrm>
            <a:off x="3407297" y="4807658"/>
            <a:ext cx="1736203" cy="1714132"/>
          </a:xfrm>
          <a:prstGeom prst="rect">
            <a:avLst/>
          </a:prstGeom>
        </p:spPr>
      </p:pic>
      <p:pic>
        <p:nvPicPr>
          <p:cNvPr id="4" name="Picture 3">
            <a:extLst>
              <a:ext uri="{FF2B5EF4-FFF2-40B4-BE49-F238E27FC236}">
                <a16:creationId xmlns:a16="http://schemas.microsoft.com/office/drawing/2014/main" id="{9B089AFE-44AA-4605-8A57-1A57ED7AAF80}"/>
              </a:ext>
            </a:extLst>
          </p:cNvPr>
          <p:cNvPicPr>
            <a:picLocks noChangeAspect="1"/>
          </p:cNvPicPr>
          <p:nvPr/>
        </p:nvPicPr>
        <p:blipFill>
          <a:blip r:embed="rId7"/>
          <a:stretch>
            <a:fillRect/>
          </a:stretch>
        </p:blipFill>
        <p:spPr>
          <a:xfrm>
            <a:off x="5537345" y="1337225"/>
            <a:ext cx="1823404" cy="1800225"/>
          </a:xfrm>
          <a:prstGeom prst="rect">
            <a:avLst/>
          </a:prstGeom>
        </p:spPr>
      </p:pic>
    </p:spTree>
    <p:extLst>
      <p:ext uri="{BB962C8B-B14F-4D97-AF65-F5344CB8AC3E}">
        <p14:creationId xmlns:p14="http://schemas.microsoft.com/office/powerpoint/2010/main" val="3779352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0696A-62F2-4115-9627-82DE79A69437}"/>
              </a:ext>
            </a:extLst>
          </p:cNvPr>
          <p:cNvPicPr>
            <a:picLocks noChangeAspect="1"/>
          </p:cNvPicPr>
          <p:nvPr/>
        </p:nvPicPr>
        <p:blipFill>
          <a:blip r:embed="rId2"/>
          <a:stretch>
            <a:fillRect/>
          </a:stretch>
        </p:blipFill>
        <p:spPr>
          <a:xfrm>
            <a:off x="1683488" y="1615"/>
            <a:ext cx="8825023" cy="6856385"/>
          </a:xfrm>
          <a:prstGeom prst="rect">
            <a:avLst/>
          </a:prstGeom>
        </p:spPr>
      </p:pic>
    </p:spTree>
    <p:extLst>
      <p:ext uri="{BB962C8B-B14F-4D97-AF65-F5344CB8AC3E}">
        <p14:creationId xmlns:p14="http://schemas.microsoft.com/office/powerpoint/2010/main" val="1774287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BD0DEF4-CD1B-4B7B-AA10-F8938222376F}"/>
              </a:ext>
            </a:extLst>
          </p:cNvPr>
          <p:cNvPicPr>
            <a:picLocks noChangeAspect="1"/>
          </p:cNvPicPr>
          <p:nvPr/>
        </p:nvPicPr>
        <p:blipFill>
          <a:blip r:embed="rId2"/>
          <a:stretch>
            <a:fillRect/>
          </a:stretch>
        </p:blipFill>
        <p:spPr>
          <a:xfrm>
            <a:off x="0" y="0"/>
            <a:ext cx="12206182" cy="965314"/>
          </a:xfrm>
          <a:prstGeom prst="rect">
            <a:avLst/>
          </a:prstGeom>
        </p:spPr>
      </p:pic>
      <p:sp>
        <p:nvSpPr>
          <p:cNvPr id="12" name="TextBox 11">
            <a:extLst>
              <a:ext uri="{FF2B5EF4-FFF2-40B4-BE49-F238E27FC236}">
                <a16:creationId xmlns:a16="http://schemas.microsoft.com/office/drawing/2014/main" id="{823B38AF-58BA-4CB1-A2FA-A096B3FDC4F2}"/>
              </a:ext>
            </a:extLst>
          </p:cNvPr>
          <p:cNvSpPr txBox="1"/>
          <p:nvPr/>
        </p:nvSpPr>
        <p:spPr>
          <a:xfrm>
            <a:off x="0" y="128713"/>
            <a:ext cx="12206182" cy="707886"/>
          </a:xfrm>
          <a:prstGeom prst="rect">
            <a:avLst/>
          </a:prstGeom>
          <a:noFill/>
        </p:spPr>
        <p:txBody>
          <a:bodyPr wrap="square" rtlCol="0">
            <a:spAutoFit/>
          </a:bodyPr>
          <a:lstStyle/>
          <a:p>
            <a:pPr algn="ctr"/>
            <a:r>
              <a:rPr lang="en-US" sz="4000" b="1" u="none" strike="noStrike" baseline="0" dirty="0">
                <a:solidFill>
                  <a:schemeClr val="bg1"/>
                </a:solidFill>
                <a:latin typeface="+mj-lt"/>
              </a:rPr>
              <a:t>COLLAPSE &amp; COOL 6</a:t>
            </a:r>
          </a:p>
        </p:txBody>
      </p:sp>
      <p:pic>
        <p:nvPicPr>
          <p:cNvPr id="16" name="Picture 2">
            <a:extLst>
              <a:ext uri="{FF2B5EF4-FFF2-40B4-BE49-F238E27FC236}">
                <a16:creationId xmlns:a16="http://schemas.microsoft.com/office/drawing/2014/main" id="{6122626B-8E0F-43CC-9BC5-379BF14FF4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135" y="289261"/>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16B9C39-4DDC-4EFE-AB9A-B28635C4A2DD}"/>
              </a:ext>
            </a:extLst>
          </p:cNvPr>
          <p:cNvSpPr/>
          <p:nvPr/>
        </p:nvSpPr>
        <p:spPr>
          <a:xfrm>
            <a:off x="9604045" y="4094895"/>
            <a:ext cx="1921205"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16.00 JD’s</a:t>
            </a:r>
          </a:p>
        </p:txBody>
      </p:sp>
      <p:pic>
        <p:nvPicPr>
          <p:cNvPr id="2" name="Picture 1">
            <a:extLst>
              <a:ext uri="{FF2B5EF4-FFF2-40B4-BE49-F238E27FC236}">
                <a16:creationId xmlns:a16="http://schemas.microsoft.com/office/drawing/2014/main" id="{A3852F44-14E7-489C-874A-825A005EBA36}"/>
              </a:ext>
            </a:extLst>
          </p:cNvPr>
          <p:cNvPicPr>
            <a:picLocks noChangeAspect="1"/>
          </p:cNvPicPr>
          <p:nvPr/>
        </p:nvPicPr>
        <p:blipFill rotWithShape="1">
          <a:blip r:embed="rId4"/>
          <a:srcRect l="10555" t="14075" r="11529" b="16250"/>
          <a:stretch/>
        </p:blipFill>
        <p:spPr>
          <a:xfrm>
            <a:off x="257174" y="1403462"/>
            <a:ext cx="5343525" cy="4778263"/>
          </a:xfrm>
          <a:prstGeom prst="rect">
            <a:avLst/>
          </a:prstGeom>
        </p:spPr>
      </p:pic>
      <p:sp>
        <p:nvSpPr>
          <p:cNvPr id="13" name="TextBox 12">
            <a:extLst>
              <a:ext uri="{FF2B5EF4-FFF2-40B4-BE49-F238E27FC236}">
                <a16:creationId xmlns:a16="http://schemas.microsoft.com/office/drawing/2014/main" id="{7B85A023-7627-45AB-A719-C6B10D5BEAEB}"/>
              </a:ext>
            </a:extLst>
          </p:cNvPr>
          <p:cNvSpPr txBox="1"/>
          <p:nvPr/>
        </p:nvSpPr>
        <p:spPr>
          <a:xfrm>
            <a:off x="6591303" y="1737234"/>
            <a:ext cx="5035994" cy="1477328"/>
          </a:xfrm>
          <a:prstGeom prst="rect">
            <a:avLst/>
          </a:prstGeom>
          <a:noFill/>
        </p:spPr>
        <p:txBody>
          <a:bodyPr wrap="none" rtlCol="0">
            <a:spAutoFit/>
          </a:bodyPr>
          <a:lstStyle/>
          <a:p>
            <a:r>
              <a:rPr lang="en-US" dirty="0"/>
              <a:t>Item Code: IGL/66484</a:t>
            </a:r>
          </a:p>
          <a:p>
            <a:r>
              <a:rPr lang="en-US" dirty="0"/>
              <a:t>Item Desc: Igloo Collapse &amp; Cool 6 Solid Assortment</a:t>
            </a:r>
          </a:p>
          <a:p>
            <a:r>
              <a:rPr lang="en-US" dirty="0"/>
              <a:t>VAT: 16%</a:t>
            </a:r>
          </a:p>
          <a:p>
            <a:r>
              <a:rPr lang="en-US" dirty="0"/>
              <a:t>RP: 16.00</a:t>
            </a:r>
          </a:p>
          <a:p>
            <a:r>
              <a:rPr lang="en-US" dirty="0"/>
              <a:t>MOQ: 6 Pack: 6 Case: 6</a:t>
            </a:r>
          </a:p>
        </p:txBody>
      </p:sp>
      <p:pic>
        <p:nvPicPr>
          <p:cNvPr id="3" name="Picture 2">
            <a:extLst>
              <a:ext uri="{FF2B5EF4-FFF2-40B4-BE49-F238E27FC236}">
                <a16:creationId xmlns:a16="http://schemas.microsoft.com/office/drawing/2014/main" id="{3D56BB6B-193E-4275-9A2F-7233F1D923AF}"/>
              </a:ext>
            </a:extLst>
          </p:cNvPr>
          <p:cNvPicPr>
            <a:picLocks noChangeAspect="1"/>
          </p:cNvPicPr>
          <p:nvPr/>
        </p:nvPicPr>
        <p:blipFill>
          <a:blip r:embed="rId5"/>
          <a:stretch>
            <a:fillRect/>
          </a:stretch>
        </p:blipFill>
        <p:spPr>
          <a:xfrm>
            <a:off x="5871912" y="3802118"/>
            <a:ext cx="2471988" cy="2440564"/>
          </a:xfrm>
          <a:prstGeom prst="rect">
            <a:avLst/>
          </a:prstGeom>
        </p:spPr>
      </p:pic>
    </p:spTree>
    <p:extLst>
      <p:ext uri="{BB962C8B-B14F-4D97-AF65-F5344CB8AC3E}">
        <p14:creationId xmlns:p14="http://schemas.microsoft.com/office/powerpoint/2010/main" val="2478089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BD0DEF4-CD1B-4B7B-AA10-F8938222376F}"/>
              </a:ext>
            </a:extLst>
          </p:cNvPr>
          <p:cNvPicPr>
            <a:picLocks noChangeAspect="1"/>
          </p:cNvPicPr>
          <p:nvPr/>
        </p:nvPicPr>
        <p:blipFill>
          <a:blip r:embed="rId2"/>
          <a:stretch>
            <a:fillRect/>
          </a:stretch>
        </p:blipFill>
        <p:spPr>
          <a:xfrm>
            <a:off x="0" y="0"/>
            <a:ext cx="12206182" cy="965314"/>
          </a:xfrm>
          <a:prstGeom prst="rect">
            <a:avLst/>
          </a:prstGeom>
        </p:spPr>
      </p:pic>
      <p:sp>
        <p:nvSpPr>
          <p:cNvPr id="12" name="TextBox 11">
            <a:extLst>
              <a:ext uri="{FF2B5EF4-FFF2-40B4-BE49-F238E27FC236}">
                <a16:creationId xmlns:a16="http://schemas.microsoft.com/office/drawing/2014/main" id="{823B38AF-58BA-4CB1-A2FA-A096B3FDC4F2}"/>
              </a:ext>
            </a:extLst>
          </p:cNvPr>
          <p:cNvSpPr txBox="1"/>
          <p:nvPr/>
        </p:nvSpPr>
        <p:spPr>
          <a:xfrm>
            <a:off x="0" y="128713"/>
            <a:ext cx="12206182" cy="707886"/>
          </a:xfrm>
          <a:prstGeom prst="rect">
            <a:avLst/>
          </a:prstGeom>
          <a:noFill/>
        </p:spPr>
        <p:txBody>
          <a:bodyPr wrap="square" rtlCol="0">
            <a:spAutoFit/>
          </a:bodyPr>
          <a:lstStyle/>
          <a:p>
            <a:pPr algn="ctr"/>
            <a:r>
              <a:rPr lang="en-US" sz="4000" b="1" u="none" strike="noStrike" baseline="0" dirty="0">
                <a:solidFill>
                  <a:schemeClr val="bg1"/>
                </a:solidFill>
                <a:latin typeface="+mj-lt"/>
              </a:rPr>
              <a:t>COLLAPSE &amp; COOL 12</a:t>
            </a:r>
          </a:p>
        </p:txBody>
      </p:sp>
      <p:pic>
        <p:nvPicPr>
          <p:cNvPr id="16" name="Picture 2">
            <a:extLst>
              <a:ext uri="{FF2B5EF4-FFF2-40B4-BE49-F238E27FC236}">
                <a16:creationId xmlns:a16="http://schemas.microsoft.com/office/drawing/2014/main" id="{6122626B-8E0F-43CC-9BC5-379BF14FF4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135" y="289261"/>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16B9C39-4DDC-4EFE-AB9A-B28635C4A2DD}"/>
              </a:ext>
            </a:extLst>
          </p:cNvPr>
          <p:cNvSpPr/>
          <p:nvPr/>
        </p:nvSpPr>
        <p:spPr>
          <a:xfrm>
            <a:off x="9661195" y="3852850"/>
            <a:ext cx="1968830"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19.00 JD’s</a:t>
            </a:r>
          </a:p>
        </p:txBody>
      </p:sp>
      <p:sp>
        <p:nvSpPr>
          <p:cNvPr id="13" name="TextBox 12">
            <a:extLst>
              <a:ext uri="{FF2B5EF4-FFF2-40B4-BE49-F238E27FC236}">
                <a16:creationId xmlns:a16="http://schemas.microsoft.com/office/drawing/2014/main" id="{7B85A023-7627-45AB-A719-C6B10D5BEAEB}"/>
              </a:ext>
            </a:extLst>
          </p:cNvPr>
          <p:cNvSpPr txBox="1"/>
          <p:nvPr/>
        </p:nvSpPr>
        <p:spPr>
          <a:xfrm>
            <a:off x="6591303" y="1737234"/>
            <a:ext cx="5153014" cy="1477328"/>
          </a:xfrm>
          <a:prstGeom prst="rect">
            <a:avLst/>
          </a:prstGeom>
          <a:noFill/>
        </p:spPr>
        <p:txBody>
          <a:bodyPr wrap="none" rtlCol="0">
            <a:spAutoFit/>
          </a:bodyPr>
          <a:lstStyle/>
          <a:p>
            <a:r>
              <a:rPr lang="en-US" dirty="0"/>
              <a:t>Item Code: IGL/66485</a:t>
            </a:r>
          </a:p>
          <a:p>
            <a:r>
              <a:rPr lang="en-US" dirty="0"/>
              <a:t>Item Desc: Igloo Collapse &amp; Cool 12 Solid Assortment</a:t>
            </a:r>
          </a:p>
          <a:p>
            <a:r>
              <a:rPr lang="en-US" dirty="0"/>
              <a:t>VAT: 16%</a:t>
            </a:r>
          </a:p>
          <a:p>
            <a:r>
              <a:rPr lang="en-US" dirty="0"/>
              <a:t>RP: 19.00</a:t>
            </a:r>
          </a:p>
          <a:p>
            <a:r>
              <a:rPr lang="en-US" dirty="0"/>
              <a:t>MOQ: 6 Pack: 6 Case: 6</a:t>
            </a:r>
          </a:p>
        </p:txBody>
      </p:sp>
      <p:pic>
        <p:nvPicPr>
          <p:cNvPr id="3" name="Picture 2">
            <a:extLst>
              <a:ext uri="{FF2B5EF4-FFF2-40B4-BE49-F238E27FC236}">
                <a16:creationId xmlns:a16="http://schemas.microsoft.com/office/drawing/2014/main" id="{E62DE2EF-C271-4F99-ADEE-AC42AC0F5E26}"/>
              </a:ext>
            </a:extLst>
          </p:cNvPr>
          <p:cNvPicPr>
            <a:picLocks noChangeAspect="1"/>
          </p:cNvPicPr>
          <p:nvPr/>
        </p:nvPicPr>
        <p:blipFill rotWithShape="1">
          <a:blip r:embed="rId4"/>
          <a:srcRect l="9167" t="15952" r="6528" b="16389"/>
          <a:stretch/>
        </p:blipFill>
        <p:spPr>
          <a:xfrm>
            <a:off x="438150" y="1240061"/>
            <a:ext cx="5781675" cy="4640024"/>
          </a:xfrm>
          <a:prstGeom prst="rect">
            <a:avLst/>
          </a:prstGeom>
        </p:spPr>
      </p:pic>
      <p:pic>
        <p:nvPicPr>
          <p:cNvPr id="2" name="Picture 1">
            <a:extLst>
              <a:ext uri="{FF2B5EF4-FFF2-40B4-BE49-F238E27FC236}">
                <a16:creationId xmlns:a16="http://schemas.microsoft.com/office/drawing/2014/main" id="{E9A9479D-845E-4325-9E4E-D53062D65F32}"/>
              </a:ext>
            </a:extLst>
          </p:cNvPr>
          <p:cNvPicPr>
            <a:picLocks noChangeAspect="1"/>
          </p:cNvPicPr>
          <p:nvPr/>
        </p:nvPicPr>
        <p:blipFill>
          <a:blip r:embed="rId5"/>
          <a:stretch>
            <a:fillRect/>
          </a:stretch>
        </p:blipFill>
        <p:spPr>
          <a:xfrm>
            <a:off x="6386258" y="3560073"/>
            <a:ext cx="2558931" cy="2526402"/>
          </a:xfrm>
          <a:prstGeom prst="rect">
            <a:avLst/>
          </a:prstGeom>
        </p:spPr>
      </p:pic>
    </p:spTree>
    <p:extLst>
      <p:ext uri="{BB962C8B-B14F-4D97-AF65-F5344CB8AC3E}">
        <p14:creationId xmlns:p14="http://schemas.microsoft.com/office/powerpoint/2010/main" val="3112378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BD0DEF4-CD1B-4B7B-AA10-F8938222376F}"/>
              </a:ext>
            </a:extLst>
          </p:cNvPr>
          <p:cNvPicPr>
            <a:picLocks noChangeAspect="1"/>
          </p:cNvPicPr>
          <p:nvPr/>
        </p:nvPicPr>
        <p:blipFill>
          <a:blip r:embed="rId2"/>
          <a:stretch>
            <a:fillRect/>
          </a:stretch>
        </p:blipFill>
        <p:spPr>
          <a:xfrm>
            <a:off x="0" y="0"/>
            <a:ext cx="12206182" cy="965314"/>
          </a:xfrm>
          <a:prstGeom prst="rect">
            <a:avLst/>
          </a:prstGeom>
        </p:spPr>
      </p:pic>
      <p:sp>
        <p:nvSpPr>
          <p:cNvPr id="12" name="TextBox 11">
            <a:extLst>
              <a:ext uri="{FF2B5EF4-FFF2-40B4-BE49-F238E27FC236}">
                <a16:creationId xmlns:a16="http://schemas.microsoft.com/office/drawing/2014/main" id="{823B38AF-58BA-4CB1-A2FA-A096B3FDC4F2}"/>
              </a:ext>
            </a:extLst>
          </p:cNvPr>
          <p:cNvSpPr txBox="1"/>
          <p:nvPr/>
        </p:nvSpPr>
        <p:spPr>
          <a:xfrm>
            <a:off x="0" y="128713"/>
            <a:ext cx="12206182" cy="707886"/>
          </a:xfrm>
          <a:prstGeom prst="rect">
            <a:avLst/>
          </a:prstGeom>
          <a:noFill/>
        </p:spPr>
        <p:txBody>
          <a:bodyPr wrap="square" rtlCol="0">
            <a:spAutoFit/>
          </a:bodyPr>
          <a:lstStyle/>
          <a:p>
            <a:pPr algn="ctr"/>
            <a:r>
              <a:rPr lang="en-US" sz="4000" b="1" u="none" strike="noStrike" baseline="0" dirty="0">
                <a:solidFill>
                  <a:schemeClr val="bg1"/>
                </a:solidFill>
                <a:latin typeface="+mj-lt"/>
              </a:rPr>
              <a:t>COLLAPSE &amp; COOL </a:t>
            </a:r>
            <a:r>
              <a:rPr lang="en-US" sz="4000" b="1" dirty="0">
                <a:solidFill>
                  <a:schemeClr val="bg1"/>
                </a:solidFill>
                <a:latin typeface="+mj-lt"/>
              </a:rPr>
              <a:t>24</a:t>
            </a:r>
            <a:endParaRPr lang="en-US" sz="4000" b="1" u="none" strike="noStrike" baseline="0" dirty="0">
              <a:solidFill>
                <a:schemeClr val="bg1"/>
              </a:solidFill>
              <a:latin typeface="+mj-lt"/>
            </a:endParaRPr>
          </a:p>
        </p:txBody>
      </p:sp>
      <p:pic>
        <p:nvPicPr>
          <p:cNvPr id="16" name="Picture 2">
            <a:extLst>
              <a:ext uri="{FF2B5EF4-FFF2-40B4-BE49-F238E27FC236}">
                <a16:creationId xmlns:a16="http://schemas.microsoft.com/office/drawing/2014/main" id="{6122626B-8E0F-43CC-9BC5-379BF14FF4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135" y="289261"/>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16B9C39-4DDC-4EFE-AB9A-B28635C4A2DD}"/>
              </a:ext>
            </a:extLst>
          </p:cNvPr>
          <p:cNvSpPr/>
          <p:nvPr/>
        </p:nvSpPr>
        <p:spPr>
          <a:xfrm>
            <a:off x="9327820" y="3926960"/>
            <a:ext cx="1997405"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22.00 JD’s</a:t>
            </a:r>
          </a:p>
        </p:txBody>
      </p:sp>
      <p:sp>
        <p:nvSpPr>
          <p:cNvPr id="13" name="TextBox 12">
            <a:extLst>
              <a:ext uri="{FF2B5EF4-FFF2-40B4-BE49-F238E27FC236}">
                <a16:creationId xmlns:a16="http://schemas.microsoft.com/office/drawing/2014/main" id="{7B85A023-7627-45AB-A719-C6B10D5BEAEB}"/>
              </a:ext>
            </a:extLst>
          </p:cNvPr>
          <p:cNvSpPr txBox="1"/>
          <p:nvPr/>
        </p:nvSpPr>
        <p:spPr>
          <a:xfrm>
            <a:off x="6591303" y="1737234"/>
            <a:ext cx="5153014" cy="1477328"/>
          </a:xfrm>
          <a:prstGeom prst="rect">
            <a:avLst/>
          </a:prstGeom>
          <a:noFill/>
        </p:spPr>
        <p:txBody>
          <a:bodyPr wrap="none" rtlCol="0">
            <a:spAutoFit/>
          </a:bodyPr>
          <a:lstStyle/>
          <a:p>
            <a:r>
              <a:rPr lang="en-US" dirty="0"/>
              <a:t>Item Code: IGL/66486</a:t>
            </a:r>
          </a:p>
          <a:p>
            <a:r>
              <a:rPr lang="en-US" dirty="0"/>
              <a:t>Item Desc: Igloo Collapse &amp; Cool 24 Solid Assortment</a:t>
            </a:r>
          </a:p>
          <a:p>
            <a:r>
              <a:rPr lang="en-US" dirty="0"/>
              <a:t>VAT: 16%</a:t>
            </a:r>
          </a:p>
          <a:p>
            <a:r>
              <a:rPr lang="en-US" dirty="0"/>
              <a:t>RP: 22.00</a:t>
            </a:r>
          </a:p>
          <a:p>
            <a:r>
              <a:rPr lang="en-US" dirty="0"/>
              <a:t>MOQ: 6 Pack: 6 Case: 6</a:t>
            </a:r>
          </a:p>
        </p:txBody>
      </p:sp>
      <p:pic>
        <p:nvPicPr>
          <p:cNvPr id="3" name="Picture 2">
            <a:extLst>
              <a:ext uri="{FF2B5EF4-FFF2-40B4-BE49-F238E27FC236}">
                <a16:creationId xmlns:a16="http://schemas.microsoft.com/office/drawing/2014/main" id="{3A65FB7D-213E-41E5-9EFB-4A1A182447F0}"/>
              </a:ext>
            </a:extLst>
          </p:cNvPr>
          <p:cNvPicPr>
            <a:picLocks noChangeAspect="1"/>
          </p:cNvPicPr>
          <p:nvPr/>
        </p:nvPicPr>
        <p:blipFill rotWithShape="1">
          <a:blip r:embed="rId4"/>
          <a:srcRect l="14445" t="9858" r="13889" b="9444"/>
          <a:stretch/>
        </p:blipFill>
        <p:spPr>
          <a:xfrm>
            <a:off x="552458" y="1252187"/>
            <a:ext cx="4571992" cy="5148131"/>
          </a:xfrm>
          <a:prstGeom prst="rect">
            <a:avLst/>
          </a:prstGeom>
        </p:spPr>
      </p:pic>
      <p:pic>
        <p:nvPicPr>
          <p:cNvPr id="2" name="Picture 1">
            <a:extLst>
              <a:ext uri="{FF2B5EF4-FFF2-40B4-BE49-F238E27FC236}">
                <a16:creationId xmlns:a16="http://schemas.microsoft.com/office/drawing/2014/main" id="{6C8312E0-BF68-4141-ADFA-B8AB1679A111}"/>
              </a:ext>
            </a:extLst>
          </p:cNvPr>
          <p:cNvPicPr>
            <a:picLocks noChangeAspect="1"/>
          </p:cNvPicPr>
          <p:nvPr/>
        </p:nvPicPr>
        <p:blipFill>
          <a:blip r:embed="rId5"/>
          <a:stretch>
            <a:fillRect/>
          </a:stretch>
        </p:blipFill>
        <p:spPr>
          <a:xfrm>
            <a:off x="5490909" y="3624658"/>
            <a:ext cx="2242676" cy="2214167"/>
          </a:xfrm>
          <a:prstGeom prst="rect">
            <a:avLst/>
          </a:prstGeom>
        </p:spPr>
      </p:pic>
    </p:spTree>
    <p:extLst>
      <p:ext uri="{BB962C8B-B14F-4D97-AF65-F5344CB8AC3E}">
        <p14:creationId xmlns:p14="http://schemas.microsoft.com/office/powerpoint/2010/main" val="1544942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u="none" strike="noStrike" baseline="0" dirty="0">
                <a:solidFill>
                  <a:schemeClr val="bg1"/>
                </a:solidFill>
                <a:latin typeface="+mj-lt"/>
              </a:rPr>
              <a:t>LAGUNA COOLER 9</a:t>
            </a:r>
          </a:p>
        </p:txBody>
      </p:sp>
      <p:sp>
        <p:nvSpPr>
          <p:cNvPr id="14" name="TextBox 13">
            <a:extLst>
              <a:ext uri="{FF2B5EF4-FFF2-40B4-BE49-F238E27FC236}">
                <a16:creationId xmlns:a16="http://schemas.microsoft.com/office/drawing/2014/main" id="{5830B7D7-FC20-4A2B-B465-ED54923F71A5}"/>
              </a:ext>
            </a:extLst>
          </p:cNvPr>
          <p:cNvSpPr txBox="1"/>
          <p:nvPr/>
        </p:nvSpPr>
        <p:spPr>
          <a:xfrm>
            <a:off x="213918" y="1275926"/>
            <a:ext cx="4920011" cy="2631490"/>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Specifications: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Cool Riser Technology® – elevated design improves cooling performance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Integrated bale handle for one-handed carrying, and folds flat for storage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Lid reverses from flat surface to tray and cup holder</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Designed for easy stacking and storage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Easy-clean, stain and odor resistant liner</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NEW THERMECOOL™ Foam – Cleaner ECO</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friendly solution</a:t>
            </a:r>
            <a:r>
              <a:rPr lang="en-US" sz="1600" b="0" i="0" u="none" strike="noStrike" baseline="0" dirty="0">
                <a:solidFill>
                  <a:srgbClr val="000000"/>
                </a:solidFill>
                <a:latin typeface="Calibri" panose="020F0502020204030204" pitchFamily="34" charset="0"/>
              </a:rPr>
              <a:t>	</a:t>
            </a:r>
            <a:endParaRPr lang="en-US" sz="1600" dirty="0">
              <a:solidFill>
                <a:srgbClr val="002060"/>
              </a:solidFill>
              <a:latin typeface="Anteb"/>
              <a:ea typeface="Verdana" panose="020B0604030504040204" pitchFamily="34" charset="0"/>
            </a:endParaRPr>
          </a:p>
        </p:txBody>
      </p:sp>
      <p:sp>
        <p:nvSpPr>
          <p:cNvPr id="11" name="TextBox 10">
            <a:extLst>
              <a:ext uri="{FF2B5EF4-FFF2-40B4-BE49-F238E27FC236}">
                <a16:creationId xmlns:a16="http://schemas.microsoft.com/office/drawing/2014/main" id="{5F280374-F541-4CC2-856D-803847372E38}"/>
              </a:ext>
            </a:extLst>
          </p:cNvPr>
          <p:cNvSpPr txBox="1"/>
          <p:nvPr/>
        </p:nvSpPr>
        <p:spPr>
          <a:xfrm>
            <a:off x="213918" y="4217966"/>
            <a:ext cx="4920011" cy="907941"/>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Size: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9 Quarts / 8 Liters / 13 Cans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Case Pack: 4</a:t>
            </a:r>
          </a:p>
        </p:txBody>
      </p:sp>
      <p:pic>
        <p:nvPicPr>
          <p:cNvPr id="4" name="Picture 3">
            <a:extLst>
              <a:ext uri="{FF2B5EF4-FFF2-40B4-BE49-F238E27FC236}">
                <a16:creationId xmlns:a16="http://schemas.microsoft.com/office/drawing/2014/main" id="{269340D4-2EB8-4F61-A47E-A147791ABC3F}"/>
              </a:ext>
            </a:extLst>
          </p:cNvPr>
          <p:cNvPicPr>
            <a:picLocks noChangeAspect="1"/>
          </p:cNvPicPr>
          <p:nvPr/>
        </p:nvPicPr>
        <p:blipFill rotWithShape="1">
          <a:blip r:embed="rId4"/>
          <a:srcRect t="16841" b="19835"/>
          <a:stretch/>
        </p:blipFill>
        <p:spPr>
          <a:xfrm>
            <a:off x="213918" y="5582074"/>
            <a:ext cx="2462888" cy="996241"/>
          </a:xfrm>
          <a:prstGeom prst="rect">
            <a:avLst/>
          </a:prstGeom>
        </p:spPr>
      </p:pic>
      <p:pic>
        <p:nvPicPr>
          <p:cNvPr id="1026" name="Picture 2" descr="Image result for laguna 9 igloo">
            <a:extLst>
              <a:ext uri="{FF2B5EF4-FFF2-40B4-BE49-F238E27FC236}">
                <a16:creationId xmlns:a16="http://schemas.microsoft.com/office/drawing/2014/main" id="{9FC67CDF-EAC9-475F-84D7-6B5F98577C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17034" y="1202409"/>
            <a:ext cx="3015557" cy="30155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laguna 9 igloo">
            <a:extLst>
              <a:ext uri="{FF2B5EF4-FFF2-40B4-BE49-F238E27FC236}">
                <a16:creationId xmlns:a16="http://schemas.microsoft.com/office/drawing/2014/main" id="{695BD849-4F1C-4615-B231-E2E7951C318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00905" y="3907416"/>
            <a:ext cx="3680306" cy="28502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laguna 9 igloo">
            <a:extLst>
              <a:ext uri="{FF2B5EF4-FFF2-40B4-BE49-F238E27FC236}">
                <a16:creationId xmlns:a16="http://schemas.microsoft.com/office/drawing/2014/main" id="{83417333-ECA4-4597-86F8-349FAE08D333}"/>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b="9314"/>
          <a:stretch/>
        </p:blipFill>
        <p:spPr bwMode="auto">
          <a:xfrm>
            <a:off x="8515697" y="1667505"/>
            <a:ext cx="3462385" cy="430614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A1B74545-3DC8-4B00-A074-23FA5B8C97BE}"/>
              </a:ext>
            </a:extLst>
          </p:cNvPr>
          <p:cNvSpPr/>
          <p:nvPr/>
        </p:nvSpPr>
        <p:spPr>
          <a:xfrm>
            <a:off x="3349256" y="4348716"/>
            <a:ext cx="1967778"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22.00 JD’s</a:t>
            </a:r>
          </a:p>
        </p:txBody>
      </p:sp>
    </p:spTree>
    <p:extLst>
      <p:ext uri="{BB962C8B-B14F-4D97-AF65-F5344CB8AC3E}">
        <p14:creationId xmlns:p14="http://schemas.microsoft.com/office/powerpoint/2010/main" val="698036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u="none" strike="noStrike" baseline="0" dirty="0">
                <a:solidFill>
                  <a:schemeClr val="bg1"/>
                </a:solidFill>
                <a:latin typeface="+mj-lt"/>
              </a:rPr>
              <a:t>LAGUNA COOLER 12</a:t>
            </a:r>
          </a:p>
        </p:txBody>
      </p:sp>
      <p:sp>
        <p:nvSpPr>
          <p:cNvPr id="14" name="TextBox 13">
            <a:extLst>
              <a:ext uri="{FF2B5EF4-FFF2-40B4-BE49-F238E27FC236}">
                <a16:creationId xmlns:a16="http://schemas.microsoft.com/office/drawing/2014/main" id="{5830B7D7-FC20-4A2B-B465-ED54923F71A5}"/>
              </a:ext>
            </a:extLst>
          </p:cNvPr>
          <p:cNvSpPr txBox="1"/>
          <p:nvPr/>
        </p:nvSpPr>
        <p:spPr>
          <a:xfrm>
            <a:off x="213918" y="1275926"/>
            <a:ext cx="4920011" cy="2631490"/>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Specifications: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Cool Riser Technology® – elevated design improves cooling performance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Integrated “pouring channels” in liner allow for</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easy purging of melted ice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Ergonomic curved backside – more comfortable to carry</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Vertical profile fits tall bottles and longnecks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NEW THERMECOOL™ Foam – Cleaner ECO</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friendly solution</a:t>
            </a:r>
            <a:r>
              <a:rPr lang="en-US" sz="1600" b="0" i="0" u="none" strike="noStrike" baseline="0" dirty="0">
                <a:solidFill>
                  <a:srgbClr val="000000"/>
                </a:solidFill>
                <a:latin typeface="Calibri" panose="020F0502020204030204" pitchFamily="34" charset="0"/>
              </a:rPr>
              <a:t>	</a:t>
            </a:r>
            <a:endParaRPr lang="en-US" sz="1600" dirty="0">
              <a:solidFill>
                <a:srgbClr val="002060"/>
              </a:solidFill>
              <a:latin typeface="Anteb"/>
              <a:ea typeface="Verdana" panose="020B0604030504040204" pitchFamily="34" charset="0"/>
            </a:endParaRPr>
          </a:p>
        </p:txBody>
      </p:sp>
      <p:sp>
        <p:nvSpPr>
          <p:cNvPr id="11" name="TextBox 10">
            <a:extLst>
              <a:ext uri="{FF2B5EF4-FFF2-40B4-BE49-F238E27FC236}">
                <a16:creationId xmlns:a16="http://schemas.microsoft.com/office/drawing/2014/main" id="{5F280374-F541-4CC2-856D-803847372E38}"/>
              </a:ext>
            </a:extLst>
          </p:cNvPr>
          <p:cNvSpPr txBox="1"/>
          <p:nvPr/>
        </p:nvSpPr>
        <p:spPr>
          <a:xfrm>
            <a:off x="213918" y="4217966"/>
            <a:ext cx="4920011" cy="907941"/>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Size: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12 Quarts / 11 Liters / 18 Cans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Case Pack: 2</a:t>
            </a:r>
          </a:p>
        </p:txBody>
      </p:sp>
      <p:pic>
        <p:nvPicPr>
          <p:cNvPr id="3" name="Picture 2">
            <a:extLst>
              <a:ext uri="{FF2B5EF4-FFF2-40B4-BE49-F238E27FC236}">
                <a16:creationId xmlns:a16="http://schemas.microsoft.com/office/drawing/2014/main" id="{06F3ADC7-121A-4614-8F61-D874CA471B87}"/>
              </a:ext>
            </a:extLst>
          </p:cNvPr>
          <p:cNvPicPr>
            <a:picLocks noChangeAspect="1"/>
          </p:cNvPicPr>
          <p:nvPr/>
        </p:nvPicPr>
        <p:blipFill>
          <a:blip r:embed="rId4"/>
          <a:stretch>
            <a:fillRect/>
          </a:stretch>
        </p:blipFill>
        <p:spPr>
          <a:xfrm>
            <a:off x="248876" y="5436457"/>
            <a:ext cx="2060202" cy="1178523"/>
          </a:xfrm>
          <a:prstGeom prst="rect">
            <a:avLst/>
          </a:prstGeom>
        </p:spPr>
      </p:pic>
      <p:pic>
        <p:nvPicPr>
          <p:cNvPr id="2050" name="Picture 2" descr="Image result for laguna 12 igloo">
            <a:extLst>
              <a:ext uri="{FF2B5EF4-FFF2-40B4-BE49-F238E27FC236}">
                <a16:creationId xmlns:a16="http://schemas.microsoft.com/office/drawing/2014/main" id="{A6F71590-FCFE-4320-892E-1D51980C972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3366" y="1094089"/>
            <a:ext cx="3429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laguna 12 igloo">
            <a:extLst>
              <a:ext uri="{FF2B5EF4-FFF2-40B4-BE49-F238E27FC236}">
                <a16:creationId xmlns:a16="http://schemas.microsoft.com/office/drawing/2014/main" id="{6785DB96-B74E-436B-A1A0-6DAD26981A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05732" y="1197306"/>
            <a:ext cx="3786268" cy="565533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Rounded Corners 9">
            <a:extLst>
              <a:ext uri="{FF2B5EF4-FFF2-40B4-BE49-F238E27FC236}">
                <a16:creationId xmlns:a16="http://schemas.microsoft.com/office/drawing/2014/main" id="{82194236-2286-400C-B5B9-ECA67F9A0C70}"/>
              </a:ext>
            </a:extLst>
          </p:cNvPr>
          <p:cNvSpPr/>
          <p:nvPr/>
        </p:nvSpPr>
        <p:spPr>
          <a:xfrm>
            <a:off x="4631791" y="5190782"/>
            <a:ext cx="2060202"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29.75 JD’s</a:t>
            </a:r>
          </a:p>
        </p:txBody>
      </p:sp>
    </p:spTree>
    <p:extLst>
      <p:ext uri="{BB962C8B-B14F-4D97-AF65-F5344CB8AC3E}">
        <p14:creationId xmlns:p14="http://schemas.microsoft.com/office/powerpoint/2010/main" val="3383421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u="none" strike="noStrike" baseline="0" dirty="0">
                <a:solidFill>
                  <a:schemeClr val="bg1"/>
                </a:solidFill>
                <a:latin typeface="+mj-lt"/>
              </a:rPr>
              <a:t>LAGUNA COOLER 28</a:t>
            </a:r>
          </a:p>
        </p:txBody>
      </p:sp>
      <p:sp>
        <p:nvSpPr>
          <p:cNvPr id="11" name="TextBox 10">
            <a:extLst>
              <a:ext uri="{FF2B5EF4-FFF2-40B4-BE49-F238E27FC236}">
                <a16:creationId xmlns:a16="http://schemas.microsoft.com/office/drawing/2014/main" id="{5F280374-F541-4CC2-856D-803847372E38}"/>
              </a:ext>
            </a:extLst>
          </p:cNvPr>
          <p:cNvSpPr txBox="1"/>
          <p:nvPr/>
        </p:nvSpPr>
        <p:spPr>
          <a:xfrm>
            <a:off x="213917" y="3848634"/>
            <a:ext cx="4920011" cy="907941"/>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Size: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28 Quarts / 26 Liters / 42 Cans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Case Pack: 2</a:t>
            </a:r>
          </a:p>
        </p:txBody>
      </p:sp>
      <p:sp>
        <p:nvSpPr>
          <p:cNvPr id="15" name="TextBox 14">
            <a:extLst>
              <a:ext uri="{FF2B5EF4-FFF2-40B4-BE49-F238E27FC236}">
                <a16:creationId xmlns:a16="http://schemas.microsoft.com/office/drawing/2014/main" id="{2FCE6055-BF5D-4C93-B78B-4456724DD0E7}"/>
              </a:ext>
            </a:extLst>
          </p:cNvPr>
          <p:cNvSpPr txBox="1"/>
          <p:nvPr/>
        </p:nvSpPr>
        <p:spPr>
          <a:xfrm>
            <a:off x="213918" y="1275926"/>
            <a:ext cx="4920011" cy="2139047"/>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Specifications: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Cool Riser Technology® – elevated design improves cooling performance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Swing-up handle for one-handed carrying</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Curved backside hugs comfortably to your body for ultimate carrying comfort</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NEW THERMECOOL™ Foam – Cleaner ECO</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friendly solution</a:t>
            </a:r>
            <a:r>
              <a:rPr lang="en-US" sz="1600" b="0" i="0" u="none" strike="noStrike" baseline="0" dirty="0">
                <a:solidFill>
                  <a:srgbClr val="000000"/>
                </a:solidFill>
                <a:latin typeface="Calibri" panose="020F0502020204030204" pitchFamily="34" charset="0"/>
              </a:rPr>
              <a:t>	</a:t>
            </a:r>
            <a:endParaRPr lang="en-US" sz="1600" dirty="0">
              <a:solidFill>
                <a:srgbClr val="002060"/>
              </a:solidFill>
              <a:latin typeface="Anteb"/>
              <a:ea typeface="Verdana" panose="020B0604030504040204" pitchFamily="34" charset="0"/>
            </a:endParaRPr>
          </a:p>
        </p:txBody>
      </p:sp>
      <p:pic>
        <p:nvPicPr>
          <p:cNvPr id="3" name="Picture 2">
            <a:extLst>
              <a:ext uri="{FF2B5EF4-FFF2-40B4-BE49-F238E27FC236}">
                <a16:creationId xmlns:a16="http://schemas.microsoft.com/office/drawing/2014/main" id="{77F1BFBA-6F91-4436-975C-8BFC5D12323D}"/>
              </a:ext>
            </a:extLst>
          </p:cNvPr>
          <p:cNvPicPr>
            <a:picLocks noChangeAspect="1"/>
          </p:cNvPicPr>
          <p:nvPr/>
        </p:nvPicPr>
        <p:blipFill>
          <a:blip r:embed="rId4"/>
          <a:stretch>
            <a:fillRect/>
          </a:stretch>
        </p:blipFill>
        <p:spPr>
          <a:xfrm>
            <a:off x="213916" y="5376786"/>
            <a:ext cx="1965757" cy="1108797"/>
          </a:xfrm>
          <a:prstGeom prst="rect">
            <a:avLst/>
          </a:prstGeom>
        </p:spPr>
      </p:pic>
      <p:pic>
        <p:nvPicPr>
          <p:cNvPr id="1026" name="Picture 2" descr="Image result for laguna 28 igloo">
            <a:extLst>
              <a:ext uri="{FF2B5EF4-FFF2-40B4-BE49-F238E27FC236}">
                <a16:creationId xmlns:a16="http://schemas.microsoft.com/office/drawing/2014/main" id="{2E8C9B42-0711-433C-81C7-0BC537100C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7947" y="1008715"/>
            <a:ext cx="3563505" cy="35635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laguna 28 igloo">
            <a:extLst>
              <a:ext uri="{FF2B5EF4-FFF2-40B4-BE49-F238E27FC236}">
                <a16:creationId xmlns:a16="http://schemas.microsoft.com/office/drawing/2014/main" id="{D1C9E4B8-DF94-4D4E-A9BA-D1F5635000F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25992" y="4302604"/>
            <a:ext cx="2570008" cy="22015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laguna 28 igloo">
            <a:extLst>
              <a:ext uri="{FF2B5EF4-FFF2-40B4-BE49-F238E27FC236}">
                <a16:creationId xmlns:a16="http://schemas.microsoft.com/office/drawing/2014/main" id="{DF9C103D-B6DE-4001-BD38-EC2C68C706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31453" y="1094089"/>
            <a:ext cx="3894836" cy="4957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Rounded Corners 11">
            <a:extLst>
              <a:ext uri="{FF2B5EF4-FFF2-40B4-BE49-F238E27FC236}">
                <a16:creationId xmlns:a16="http://schemas.microsoft.com/office/drawing/2014/main" id="{5FE5C195-DF28-4A05-AC63-4EF87958AAB2}"/>
              </a:ext>
            </a:extLst>
          </p:cNvPr>
          <p:cNvSpPr/>
          <p:nvPr/>
        </p:nvSpPr>
        <p:spPr>
          <a:xfrm>
            <a:off x="7800976" y="5762397"/>
            <a:ext cx="1981316"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37.50 JD’s</a:t>
            </a:r>
          </a:p>
        </p:txBody>
      </p:sp>
    </p:spTree>
    <p:extLst>
      <p:ext uri="{BB962C8B-B14F-4D97-AF65-F5344CB8AC3E}">
        <p14:creationId xmlns:p14="http://schemas.microsoft.com/office/powerpoint/2010/main" val="998845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dirty="0">
                <a:solidFill>
                  <a:schemeClr val="bg1"/>
                </a:solidFill>
                <a:latin typeface="+mj-lt"/>
              </a:rPr>
              <a:t>LATITUDE Marine 30</a:t>
            </a:r>
            <a:endParaRPr lang="en-US" sz="4000" b="1" u="none" strike="noStrike" baseline="0" dirty="0">
              <a:solidFill>
                <a:schemeClr val="bg1"/>
              </a:solidFill>
              <a:latin typeface="+mj-lt"/>
            </a:endParaRPr>
          </a:p>
        </p:txBody>
      </p:sp>
      <p:sp>
        <p:nvSpPr>
          <p:cNvPr id="9" name="Rectangle: Rounded Corners 8">
            <a:extLst>
              <a:ext uri="{FF2B5EF4-FFF2-40B4-BE49-F238E27FC236}">
                <a16:creationId xmlns:a16="http://schemas.microsoft.com/office/drawing/2014/main" id="{52122022-D317-4E31-8AC0-08E37EA118B5}"/>
              </a:ext>
            </a:extLst>
          </p:cNvPr>
          <p:cNvSpPr/>
          <p:nvPr/>
        </p:nvSpPr>
        <p:spPr>
          <a:xfrm>
            <a:off x="5198611" y="4372311"/>
            <a:ext cx="2147939"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80.00 JD’s</a:t>
            </a:r>
          </a:p>
        </p:txBody>
      </p:sp>
      <p:sp>
        <p:nvSpPr>
          <p:cNvPr id="14" name="TextBox 13">
            <a:extLst>
              <a:ext uri="{FF2B5EF4-FFF2-40B4-BE49-F238E27FC236}">
                <a16:creationId xmlns:a16="http://schemas.microsoft.com/office/drawing/2014/main" id="{A7BC7172-C94C-4A42-B4B4-C2C339AB1E05}"/>
              </a:ext>
            </a:extLst>
          </p:cNvPr>
          <p:cNvSpPr txBox="1"/>
          <p:nvPr/>
        </p:nvSpPr>
        <p:spPr>
          <a:xfrm>
            <a:off x="403618" y="5368347"/>
            <a:ext cx="5355633" cy="1477328"/>
          </a:xfrm>
          <a:prstGeom prst="rect">
            <a:avLst/>
          </a:prstGeom>
          <a:noFill/>
        </p:spPr>
        <p:txBody>
          <a:bodyPr wrap="none" rtlCol="0">
            <a:spAutoFit/>
          </a:bodyPr>
          <a:lstStyle/>
          <a:p>
            <a:r>
              <a:rPr lang="en-US" dirty="0"/>
              <a:t>Item Code: IGL/50557</a:t>
            </a:r>
          </a:p>
          <a:p>
            <a:r>
              <a:rPr lang="en-US" dirty="0"/>
              <a:t>Item Desc: Igloo Latitude Marine Ultra 30 QT (28 Liters)</a:t>
            </a:r>
          </a:p>
          <a:p>
            <a:r>
              <a:rPr lang="en-US" dirty="0"/>
              <a:t>RP: 80.00</a:t>
            </a:r>
          </a:p>
          <a:p>
            <a:r>
              <a:rPr lang="en-US" dirty="0"/>
              <a:t>VAT: 16%</a:t>
            </a:r>
          </a:p>
          <a:p>
            <a:r>
              <a:rPr lang="en-US" dirty="0"/>
              <a:t>MOQ: 1 Pack: 1 Case: 1</a:t>
            </a:r>
          </a:p>
        </p:txBody>
      </p:sp>
      <p:pic>
        <p:nvPicPr>
          <p:cNvPr id="3" name="Picture 2">
            <a:extLst>
              <a:ext uri="{FF2B5EF4-FFF2-40B4-BE49-F238E27FC236}">
                <a16:creationId xmlns:a16="http://schemas.microsoft.com/office/drawing/2014/main" id="{271BA893-3F76-4F06-A1A7-66D7C9B08ABC}"/>
              </a:ext>
            </a:extLst>
          </p:cNvPr>
          <p:cNvPicPr>
            <a:picLocks noChangeAspect="1"/>
          </p:cNvPicPr>
          <p:nvPr/>
        </p:nvPicPr>
        <p:blipFill>
          <a:blip r:embed="rId4"/>
          <a:stretch>
            <a:fillRect/>
          </a:stretch>
        </p:blipFill>
        <p:spPr>
          <a:xfrm>
            <a:off x="1247078" y="1624012"/>
            <a:ext cx="3376613" cy="3376613"/>
          </a:xfrm>
          <a:prstGeom prst="rect">
            <a:avLst/>
          </a:prstGeom>
        </p:spPr>
      </p:pic>
      <p:pic>
        <p:nvPicPr>
          <p:cNvPr id="5" name="Picture 4">
            <a:extLst>
              <a:ext uri="{FF2B5EF4-FFF2-40B4-BE49-F238E27FC236}">
                <a16:creationId xmlns:a16="http://schemas.microsoft.com/office/drawing/2014/main" id="{75EF8A9E-0FFF-4257-A557-25362D7B8154}"/>
              </a:ext>
            </a:extLst>
          </p:cNvPr>
          <p:cNvPicPr>
            <a:picLocks noChangeAspect="1"/>
          </p:cNvPicPr>
          <p:nvPr/>
        </p:nvPicPr>
        <p:blipFill>
          <a:blip r:embed="rId5"/>
          <a:stretch>
            <a:fillRect/>
          </a:stretch>
        </p:blipFill>
        <p:spPr>
          <a:xfrm>
            <a:off x="7867650" y="1290637"/>
            <a:ext cx="3609975" cy="3499142"/>
          </a:xfrm>
          <a:prstGeom prst="rect">
            <a:avLst/>
          </a:prstGeom>
        </p:spPr>
      </p:pic>
      <p:pic>
        <p:nvPicPr>
          <p:cNvPr id="2" name="Picture 1">
            <a:extLst>
              <a:ext uri="{FF2B5EF4-FFF2-40B4-BE49-F238E27FC236}">
                <a16:creationId xmlns:a16="http://schemas.microsoft.com/office/drawing/2014/main" id="{0DD26A5C-B19A-44BF-93F0-304337B4CF2D}"/>
              </a:ext>
            </a:extLst>
          </p:cNvPr>
          <p:cNvPicPr>
            <a:picLocks noChangeAspect="1"/>
          </p:cNvPicPr>
          <p:nvPr/>
        </p:nvPicPr>
        <p:blipFill>
          <a:blip r:embed="rId6"/>
          <a:stretch>
            <a:fillRect/>
          </a:stretch>
        </p:blipFill>
        <p:spPr>
          <a:xfrm>
            <a:off x="4873479" y="1450077"/>
            <a:ext cx="2419251" cy="2388497"/>
          </a:xfrm>
          <a:prstGeom prst="rect">
            <a:avLst/>
          </a:prstGeom>
        </p:spPr>
      </p:pic>
    </p:spTree>
    <p:extLst>
      <p:ext uri="{BB962C8B-B14F-4D97-AF65-F5344CB8AC3E}">
        <p14:creationId xmlns:p14="http://schemas.microsoft.com/office/powerpoint/2010/main" val="2996280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u="none" strike="noStrike" baseline="0" dirty="0">
                <a:solidFill>
                  <a:schemeClr val="bg1"/>
                </a:solidFill>
                <a:latin typeface="+mj-lt"/>
              </a:rPr>
              <a:t>LAGUNA COOLER 48</a:t>
            </a:r>
          </a:p>
        </p:txBody>
      </p:sp>
      <p:sp>
        <p:nvSpPr>
          <p:cNvPr id="11" name="TextBox 10">
            <a:extLst>
              <a:ext uri="{FF2B5EF4-FFF2-40B4-BE49-F238E27FC236}">
                <a16:creationId xmlns:a16="http://schemas.microsoft.com/office/drawing/2014/main" id="{5F280374-F541-4CC2-856D-803847372E38}"/>
              </a:ext>
            </a:extLst>
          </p:cNvPr>
          <p:cNvSpPr txBox="1"/>
          <p:nvPr/>
        </p:nvSpPr>
        <p:spPr>
          <a:xfrm>
            <a:off x="213917" y="4199511"/>
            <a:ext cx="4920011" cy="907941"/>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Size: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48 Quarts / 45 Liters / 76 Cans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Case Pack: 2</a:t>
            </a:r>
          </a:p>
        </p:txBody>
      </p:sp>
      <p:pic>
        <p:nvPicPr>
          <p:cNvPr id="3" name="Picture 2">
            <a:extLst>
              <a:ext uri="{FF2B5EF4-FFF2-40B4-BE49-F238E27FC236}">
                <a16:creationId xmlns:a16="http://schemas.microsoft.com/office/drawing/2014/main" id="{DEFE58B1-543B-4A55-845C-52EE2A540F30}"/>
              </a:ext>
            </a:extLst>
          </p:cNvPr>
          <p:cNvPicPr>
            <a:picLocks noChangeAspect="1"/>
          </p:cNvPicPr>
          <p:nvPr/>
        </p:nvPicPr>
        <p:blipFill rotWithShape="1">
          <a:blip r:embed="rId4"/>
          <a:srcRect l="41216" t="3733"/>
          <a:stretch/>
        </p:blipFill>
        <p:spPr>
          <a:xfrm>
            <a:off x="679080" y="5265297"/>
            <a:ext cx="1502145" cy="1304601"/>
          </a:xfrm>
          <a:prstGeom prst="rect">
            <a:avLst/>
          </a:prstGeom>
        </p:spPr>
      </p:pic>
      <p:sp>
        <p:nvSpPr>
          <p:cNvPr id="12" name="TextBox 11">
            <a:extLst>
              <a:ext uri="{FF2B5EF4-FFF2-40B4-BE49-F238E27FC236}">
                <a16:creationId xmlns:a16="http://schemas.microsoft.com/office/drawing/2014/main" id="{F77413FE-8E76-41BF-8CD2-F7E777BB6E2D}"/>
              </a:ext>
            </a:extLst>
          </p:cNvPr>
          <p:cNvSpPr txBox="1"/>
          <p:nvPr/>
        </p:nvSpPr>
        <p:spPr>
          <a:xfrm>
            <a:off x="213918" y="1275926"/>
            <a:ext cx="4920011" cy="2385268"/>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Specifications: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Cool Riser Technology® – elevated design improves cooling performance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Insulated with </a:t>
            </a:r>
            <a:r>
              <a:rPr lang="en-US" sz="1600" dirty="0" err="1">
                <a:solidFill>
                  <a:srgbClr val="002060"/>
                </a:solidFill>
                <a:latin typeface="Anteb"/>
                <a:ea typeface="Verdana" panose="020B0604030504040204" pitchFamily="34" charset="0"/>
              </a:rPr>
              <a:t>Ultratherm</a:t>
            </a:r>
            <a:r>
              <a:rPr lang="en-US" sz="1600" dirty="0">
                <a:solidFill>
                  <a:srgbClr val="002060"/>
                </a:solidFill>
                <a:latin typeface="Anteb"/>
                <a:ea typeface="Verdana" panose="020B0604030504040204" pitchFamily="34" charset="0"/>
              </a:rPr>
              <a:t>™ foam to keep contents cold</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Swing-up carry handles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Stain and odor-resistant liner</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NEW THERMECOOL™ Foam – Cleaner ECO friendly solution</a:t>
            </a:r>
            <a:r>
              <a:rPr lang="en-US" sz="1600" b="0" i="0" u="none" strike="noStrike" baseline="0" dirty="0">
                <a:solidFill>
                  <a:srgbClr val="000000"/>
                </a:solidFill>
                <a:latin typeface="Calibri" panose="020F0502020204030204" pitchFamily="34" charset="0"/>
              </a:rPr>
              <a:t>	</a:t>
            </a:r>
            <a:endParaRPr lang="en-US" sz="1600" dirty="0">
              <a:solidFill>
                <a:srgbClr val="002060"/>
              </a:solidFill>
              <a:latin typeface="Anteb"/>
              <a:ea typeface="Verdana" panose="020B0604030504040204" pitchFamily="34" charset="0"/>
            </a:endParaRPr>
          </a:p>
        </p:txBody>
      </p:sp>
      <p:sp>
        <p:nvSpPr>
          <p:cNvPr id="9" name="Rectangle: Rounded Corners 8">
            <a:extLst>
              <a:ext uri="{FF2B5EF4-FFF2-40B4-BE49-F238E27FC236}">
                <a16:creationId xmlns:a16="http://schemas.microsoft.com/office/drawing/2014/main" id="{52122022-D317-4E31-8AC0-08E37EA118B5}"/>
              </a:ext>
            </a:extLst>
          </p:cNvPr>
          <p:cNvSpPr/>
          <p:nvPr/>
        </p:nvSpPr>
        <p:spPr>
          <a:xfrm>
            <a:off x="3543300" y="5758599"/>
            <a:ext cx="1904497"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50.00 JD’s</a:t>
            </a:r>
          </a:p>
        </p:txBody>
      </p:sp>
      <p:pic>
        <p:nvPicPr>
          <p:cNvPr id="2" name="Picture 1">
            <a:extLst>
              <a:ext uri="{FF2B5EF4-FFF2-40B4-BE49-F238E27FC236}">
                <a16:creationId xmlns:a16="http://schemas.microsoft.com/office/drawing/2014/main" id="{11DD08A2-4A9B-423B-BC26-745E89C632FC}"/>
              </a:ext>
            </a:extLst>
          </p:cNvPr>
          <p:cNvPicPr>
            <a:picLocks noChangeAspect="1"/>
          </p:cNvPicPr>
          <p:nvPr/>
        </p:nvPicPr>
        <p:blipFill>
          <a:blip r:embed="rId5"/>
          <a:stretch>
            <a:fillRect/>
          </a:stretch>
        </p:blipFill>
        <p:spPr>
          <a:xfrm>
            <a:off x="5123899" y="1487808"/>
            <a:ext cx="3067051" cy="3249948"/>
          </a:xfrm>
          <a:prstGeom prst="rect">
            <a:avLst/>
          </a:prstGeom>
        </p:spPr>
      </p:pic>
      <p:pic>
        <p:nvPicPr>
          <p:cNvPr id="4" name="Picture 3">
            <a:extLst>
              <a:ext uri="{FF2B5EF4-FFF2-40B4-BE49-F238E27FC236}">
                <a16:creationId xmlns:a16="http://schemas.microsoft.com/office/drawing/2014/main" id="{AA6FB038-2B37-42FE-992F-00DC62BE7881}"/>
              </a:ext>
            </a:extLst>
          </p:cNvPr>
          <p:cNvPicPr>
            <a:picLocks noChangeAspect="1"/>
          </p:cNvPicPr>
          <p:nvPr/>
        </p:nvPicPr>
        <p:blipFill rotWithShape="1">
          <a:blip r:embed="rId6"/>
          <a:srcRect l="-1" t="16354" r="667" b="17867"/>
          <a:stretch/>
        </p:blipFill>
        <p:spPr>
          <a:xfrm>
            <a:off x="8805862" y="1609725"/>
            <a:ext cx="2474054" cy="1638300"/>
          </a:xfrm>
          <a:prstGeom prst="rect">
            <a:avLst/>
          </a:prstGeom>
        </p:spPr>
      </p:pic>
      <p:pic>
        <p:nvPicPr>
          <p:cNvPr id="5" name="Picture 4">
            <a:extLst>
              <a:ext uri="{FF2B5EF4-FFF2-40B4-BE49-F238E27FC236}">
                <a16:creationId xmlns:a16="http://schemas.microsoft.com/office/drawing/2014/main" id="{95F0BE12-CCAA-4AE1-AEEB-0DD6CDB02347}"/>
              </a:ext>
            </a:extLst>
          </p:cNvPr>
          <p:cNvPicPr>
            <a:picLocks noChangeAspect="1"/>
          </p:cNvPicPr>
          <p:nvPr/>
        </p:nvPicPr>
        <p:blipFill>
          <a:blip r:embed="rId7"/>
          <a:stretch>
            <a:fillRect/>
          </a:stretch>
        </p:blipFill>
        <p:spPr>
          <a:xfrm>
            <a:off x="8094420" y="3939323"/>
            <a:ext cx="3418500" cy="2337651"/>
          </a:xfrm>
          <a:prstGeom prst="rect">
            <a:avLst/>
          </a:prstGeom>
        </p:spPr>
      </p:pic>
    </p:spTree>
    <p:extLst>
      <p:ext uri="{BB962C8B-B14F-4D97-AF65-F5344CB8AC3E}">
        <p14:creationId xmlns:p14="http://schemas.microsoft.com/office/powerpoint/2010/main" val="580454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dirty="0">
                <a:solidFill>
                  <a:schemeClr val="bg1"/>
                </a:solidFill>
                <a:latin typeface="+mj-lt"/>
              </a:rPr>
              <a:t>LATITUDE 52</a:t>
            </a:r>
            <a:endParaRPr lang="en-US" sz="4000" b="1" u="none" strike="noStrike" baseline="0" dirty="0">
              <a:solidFill>
                <a:schemeClr val="bg1"/>
              </a:solidFill>
              <a:latin typeface="+mj-lt"/>
            </a:endParaRPr>
          </a:p>
        </p:txBody>
      </p:sp>
      <p:sp>
        <p:nvSpPr>
          <p:cNvPr id="9" name="Rectangle: Rounded Corners 8">
            <a:extLst>
              <a:ext uri="{FF2B5EF4-FFF2-40B4-BE49-F238E27FC236}">
                <a16:creationId xmlns:a16="http://schemas.microsoft.com/office/drawing/2014/main" id="{52122022-D317-4E31-8AC0-08E37EA118B5}"/>
              </a:ext>
            </a:extLst>
          </p:cNvPr>
          <p:cNvSpPr/>
          <p:nvPr/>
        </p:nvSpPr>
        <p:spPr>
          <a:xfrm>
            <a:off x="4667451" y="1321441"/>
            <a:ext cx="2147939"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75.00 JD’s</a:t>
            </a:r>
          </a:p>
        </p:txBody>
      </p:sp>
      <p:sp>
        <p:nvSpPr>
          <p:cNvPr id="14" name="TextBox 13">
            <a:extLst>
              <a:ext uri="{FF2B5EF4-FFF2-40B4-BE49-F238E27FC236}">
                <a16:creationId xmlns:a16="http://schemas.microsoft.com/office/drawing/2014/main" id="{A7BC7172-C94C-4A42-B4B4-C2C339AB1E05}"/>
              </a:ext>
            </a:extLst>
          </p:cNvPr>
          <p:cNvSpPr txBox="1"/>
          <p:nvPr/>
        </p:nvSpPr>
        <p:spPr>
          <a:xfrm>
            <a:off x="403618" y="5232848"/>
            <a:ext cx="4979697" cy="1477328"/>
          </a:xfrm>
          <a:prstGeom prst="rect">
            <a:avLst/>
          </a:prstGeom>
          <a:noFill/>
        </p:spPr>
        <p:txBody>
          <a:bodyPr wrap="none" rtlCol="0">
            <a:spAutoFit/>
          </a:bodyPr>
          <a:lstStyle/>
          <a:p>
            <a:r>
              <a:rPr lang="en-US" dirty="0"/>
              <a:t>Item Code: IGL/50338</a:t>
            </a:r>
          </a:p>
          <a:p>
            <a:r>
              <a:rPr lang="en-US" dirty="0"/>
              <a:t>Item Desc: Igloo Ice Box Latitude 52 Blue (50 Liters)</a:t>
            </a:r>
          </a:p>
          <a:p>
            <a:r>
              <a:rPr lang="en-US" dirty="0"/>
              <a:t>RP: 75.00</a:t>
            </a:r>
          </a:p>
          <a:p>
            <a:r>
              <a:rPr lang="en-US" dirty="0"/>
              <a:t>VAT: 16%</a:t>
            </a:r>
          </a:p>
          <a:p>
            <a:r>
              <a:rPr lang="en-US" dirty="0"/>
              <a:t>MOQ: 1 Pack: 1 Case: 1</a:t>
            </a:r>
          </a:p>
        </p:txBody>
      </p:sp>
      <p:pic>
        <p:nvPicPr>
          <p:cNvPr id="2" name="Picture 1">
            <a:extLst>
              <a:ext uri="{FF2B5EF4-FFF2-40B4-BE49-F238E27FC236}">
                <a16:creationId xmlns:a16="http://schemas.microsoft.com/office/drawing/2014/main" id="{FFD558B3-7F93-404D-84E4-281FB9027138}"/>
              </a:ext>
            </a:extLst>
          </p:cNvPr>
          <p:cNvPicPr>
            <a:picLocks noChangeAspect="1"/>
          </p:cNvPicPr>
          <p:nvPr/>
        </p:nvPicPr>
        <p:blipFill>
          <a:blip r:embed="rId4"/>
          <a:stretch>
            <a:fillRect/>
          </a:stretch>
        </p:blipFill>
        <p:spPr>
          <a:xfrm>
            <a:off x="403618" y="1504949"/>
            <a:ext cx="3996256" cy="3228975"/>
          </a:xfrm>
          <a:prstGeom prst="rect">
            <a:avLst/>
          </a:prstGeom>
        </p:spPr>
      </p:pic>
      <p:sp>
        <p:nvSpPr>
          <p:cNvPr id="10" name="TextBox 9">
            <a:extLst>
              <a:ext uri="{FF2B5EF4-FFF2-40B4-BE49-F238E27FC236}">
                <a16:creationId xmlns:a16="http://schemas.microsoft.com/office/drawing/2014/main" id="{1D7CB88E-87CC-46D9-9C13-53D7D95719A0}"/>
              </a:ext>
            </a:extLst>
          </p:cNvPr>
          <p:cNvSpPr txBox="1"/>
          <p:nvPr/>
        </p:nvSpPr>
        <p:spPr>
          <a:xfrm>
            <a:off x="7169969" y="5207896"/>
            <a:ext cx="4922758" cy="1477328"/>
          </a:xfrm>
          <a:prstGeom prst="rect">
            <a:avLst/>
          </a:prstGeom>
          <a:noFill/>
        </p:spPr>
        <p:txBody>
          <a:bodyPr wrap="none" rtlCol="0">
            <a:spAutoFit/>
          </a:bodyPr>
          <a:lstStyle/>
          <a:p>
            <a:r>
              <a:rPr lang="en-US" dirty="0"/>
              <a:t>Item Code: IGL/50340</a:t>
            </a:r>
          </a:p>
          <a:p>
            <a:r>
              <a:rPr lang="en-US" dirty="0"/>
              <a:t>Item Desc: Igloo Ice Box Latitude 52 Red (50 Liters)</a:t>
            </a:r>
          </a:p>
          <a:p>
            <a:r>
              <a:rPr lang="en-US" dirty="0"/>
              <a:t>RP: 75.00</a:t>
            </a:r>
          </a:p>
          <a:p>
            <a:r>
              <a:rPr lang="en-US" dirty="0"/>
              <a:t>VAT: 16%</a:t>
            </a:r>
          </a:p>
          <a:p>
            <a:r>
              <a:rPr lang="en-US" dirty="0"/>
              <a:t>MOQ: 1 Pack: 1 Case: 1</a:t>
            </a:r>
          </a:p>
        </p:txBody>
      </p:sp>
      <p:pic>
        <p:nvPicPr>
          <p:cNvPr id="4" name="Picture 3">
            <a:extLst>
              <a:ext uri="{FF2B5EF4-FFF2-40B4-BE49-F238E27FC236}">
                <a16:creationId xmlns:a16="http://schemas.microsoft.com/office/drawing/2014/main" id="{5601226D-3CD9-4B20-8EBD-E956CD1E45FD}"/>
              </a:ext>
            </a:extLst>
          </p:cNvPr>
          <p:cNvPicPr>
            <a:picLocks noChangeAspect="1"/>
          </p:cNvPicPr>
          <p:nvPr/>
        </p:nvPicPr>
        <p:blipFill>
          <a:blip r:embed="rId5"/>
          <a:stretch>
            <a:fillRect/>
          </a:stretch>
        </p:blipFill>
        <p:spPr>
          <a:xfrm>
            <a:off x="7753974" y="1847847"/>
            <a:ext cx="3694106" cy="2767014"/>
          </a:xfrm>
          <a:prstGeom prst="rect">
            <a:avLst/>
          </a:prstGeom>
        </p:spPr>
      </p:pic>
      <p:pic>
        <p:nvPicPr>
          <p:cNvPr id="3" name="Picture 2">
            <a:extLst>
              <a:ext uri="{FF2B5EF4-FFF2-40B4-BE49-F238E27FC236}">
                <a16:creationId xmlns:a16="http://schemas.microsoft.com/office/drawing/2014/main" id="{5CFB4DCA-80D1-4434-8D00-04654BEC293B}"/>
              </a:ext>
            </a:extLst>
          </p:cNvPr>
          <p:cNvPicPr>
            <a:picLocks noChangeAspect="1"/>
          </p:cNvPicPr>
          <p:nvPr/>
        </p:nvPicPr>
        <p:blipFill>
          <a:blip r:embed="rId6"/>
          <a:stretch>
            <a:fillRect/>
          </a:stretch>
        </p:blipFill>
        <p:spPr>
          <a:xfrm>
            <a:off x="4562475" y="2718754"/>
            <a:ext cx="2252915" cy="2224276"/>
          </a:xfrm>
          <a:prstGeom prst="rect">
            <a:avLst/>
          </a:prstGeom>
        </p:spPr>
      </p:pic>
    </p:spTree>
    <p:extLst>
      <p:ext uri="{BB962C8B-B14F-4D97-AF65-F5344CB8AC3E}">
        <p14:creationId xmlns:p14="http://schemas.microsoft.com/office/powerpoint/2010/main" val="2044202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dirty="0">
                <a:solidFill>
                  <a:schemeClr val="bg1"/>
                </a:solidFill>
                <a:latin typeface="+mj-lt"/>
              </a:rPr>
              <a:t>LATITUDE Marine 54</a:t>
            </a:r>
            <a:endParaRPr lang="en-US" sz="4000" b="1" u="none" strike="noStrike" baseline="0" dirty="0">
              <a:solidFill>
                <a:schemeClr val="bg1"/>
              </a:solidFill>
              <a:latin typeface="+mj-lt"/>
            </a:endParaRPr>
          </a:p>
        </p:txBody>
      </p:sp>
      <p:sp>
        <p:nvSpPr>
          <p:cNvPr id="9" name="Rectangle: Rounded Corners 8">
            <a:extLst>
              <a:ext uri="{FF2B5EF4-FFF2-40B4-BE49-F238E27FC236}">
                <a16:creationId xmlns:a16="http://schemas.microsoft.com/office/drawing/2014/main" id="{52122022-D317-4E31-8AC0-08E37EA118B5}"/>
              </a:ext>
            </a:extLst>
          </p:cNvPr>
          <p:cNvSpPr/>
          <p:nvPr/>
        </p:nvSpPr>
        <p:spPr>
          <a:xfrm>
            <a:off x="7136580" y="5697137"/>
            <a:ext cx="2147939"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120.00 JD’s</a:t>
            </a:r>
          </a:p>
        </p:txBody>
      </p:sp>
      <p:sp>
        <p:nvSpPr>
          <p:cNvPr id="14" name="TextBox 13">
            <a:extLst>
              <a:ext uri="{FF2B5EF4-FFF2-40B4-BE49-F238E27FC236}">
                <a16:creationId xmlns:a16="http://schemas.microsoft.com/office/drawing/2014/main" id="{A7BC7172-C94C-4A42-B4B4-C2C339AB1E05}"/>
              </a:ext>
            </a:extLst>
          </p:cNvPr>
          <p:cNvSpPr txBox="1"/>
          <p:nvPr/>
        </p:nvSpPr>
        <p:spPr>
          <a:xfrm>
            <a:off x="403618" y="5368347"/>
            <a:ext cx="5355633" cy="1477328"/>
          </a:xfrm>
          <a:prstGeom prst="rect">
            <a:avLst/>
          </a:prstGeom>
          <a:noFill/>
        </p:spPr>
        <p:txBody>
          <a:bodyPr wrap="none" rtlCol="0">
            <a:spAutoFit/>
          </a:bodyPr>
          <a:lstStyle/>
          <a:p>
            <a:r>
              <a:rPr lang="en-US" dirty="0"/>
              <a:t>Item Code: IGL/50541</a:t>
            </a:r>
          </a:p>
          <a:p>
            <a:r>
              <a:rPr lang="en-US" dirty="0"/>
              <a:t>Item Desc: Igloo Latitude Marine Ultra 54 QT (51 Liters)</a:t>
            </a:r>
          </a:p>
          <a:p>
            <a:r>
              <a:rPr lang="en-US" dirty="0"/>
              <a:t>RP: 120.00</a:t>
            </a:r>
          </a:p>
          <a:p>
            <a:r>
              <a:rPr lang="en-US" dirty="0"/>
              <a:t>VAT: 16%</a:t>
            </a:r>
          </a:p>
          <a:p>
            <a:r>
              <a:rPr lang="en-US" dirty="0"/>
              <a:t>MOQ: 1 Pack: 1 Case: 1</a:t>
            </a:r>
          </a:p>
        </p:txBody>
      </p:sp>
      <p:pic>
        <p:nvPicPr>
          <p:cNvPr id="2" name="Picture 1">
            <a:extLst>
              <a:ext uri="{FF2B5EF4-FFF2-40B4-BE49-F238E27FC236}">
                <a16:creationId xmlns:a16="http://schemas.microsoft.com/office/drawing/2014/main" id="{5E6B3E89-F3E3-4746-83ED-5FC14223F899}"/>
              </a:ext>
            </a:extLst>
          </p:cNvPr>
          <p:cNvPicPr>
            <a:picLocks noChangeAspect="1"/>
          </p:cNvPicPr>
          <p:nvPr/>
        </p:nvPicPr>
        <p:blipFill rotWithShape="1">
          <a:blip r:embed="rId4"/>
          <a:srcRect t="9111" r="2000" b="15778"/>
          <a:stretch/>
        </p:blipFill>
        <p:spPr>
          <a:xfrm>
            <a:off x="334814" y="2009774"/>
            <a:ext cx="3541861" cy="2714625"/>
          </a:xfrm>
          <a:prstGeom prst="rect">
            <a:avLst/>
          </a:prstGeom>
        </p:spPr>
      </p:pic>
      <p:pic>
        <p:nvPicPr>
          <p:cNvPr id="4" name="Picture 3">
            <a:extLst>
              <a:ext uri="{FF2B5EF4-FFF2-40B4-BE49-F238E27FC236}">
                <a16:creationId xmlns:a16="http://schemas.microsoft.com/office/drawing/2014/main" id="{84DF3FBC-8206-4518-B392-A915F5A3D3E6}"/>
              </a:ext>
            </a:extLst>
          </p:cNvPr>
          <p:cNvPicPr>
            <a:picLocks noChangeAspect="1"/>
          </p:cNvPicPr>
          <p:nvPr/>
        </p:nvPicPr>
        <p:blipFill>
          <a:blip r:embed="rId5"/>
          <a:stretch>
            <a:fillRect/>
          </a:stretch>
        </p:blipFill>
        <p:spPr>
          <a:xfrm>
            <a:off x="6984206" y="1419583"/>
            <a:ext cx="3912393" cy="3895005"/>
          </a:xfrm>
          <a:prstGeom prst="rect">
            <a:avLst/>
          </a:prstGeom>
        </p:spPr>
      </p:pic>
      <p:pic>
        <p:nvPicPr>
          <p:cNvPr id="3" name="Picture 2">
            <a:extLst>
              <a:ext uri="{FF2B5EF4-FFF2-40B4-BE49-F238E27FC236}">
                <a16:creationId xmlns:a16="http://schemas.microsoft.com/office/drawing/2014/main" id="{684968B3-C8C4-43A8-BF78-890302C7C264}"/>
              </a:ext>
            </a:extLst>
          </p:cNvPr>
          <p:cNvPicPr>
            <a:picLocks noChangeAspect="1"/>
          </p:cNvPicPr>
          <p:nvPr/>
        </p:nvPicPr>
        <p:blipFill>
          <a:blip r:embed="rId6"/>
          <a:stretch>
            <a:fillRect/>
          </a:stretch>
        </p:blipFill>
        <p:spPr>
          <a:xfrm>
            <a:off x="4307181" y="2447925"/>
            <a:ext cx="2421558" cy="2390775"/>
          </a:xfrm>
          <a:prstGeom prst="rect">
            <a:avLst/>
          </a:prstGeom>
        </p:spPr>
      </p:pic>
    </p:spTree>
    <p:extLst>
      <p:ext uri="{BB962C8B-B14F-4D97-AF65-F5344CB8AC3E}">
        <p14:creationId xmlns:p14="http://schemas.microsoft.com/office/powerpoint/2010/main" val="96604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dirty="0">
                <a:solidFill>
                  <a:schemeClr val="bg1"/>
                </a:solidFill>
                <a:latin typeface="+mj-lt"/>
              </a:rPr>
              <a:t>LATITUDE Marine 70</a:t>
            </a:r>
            <a:endParaRPr lang="en-US" sz="4000" b="1" u="none" strike="noStrike" baseline="0" dirty="0">
              <a:solidFill>
                <a:schemeClr val="bg1"/>
              </a:solidFill>
              <a:latin typeface="+mj-lt"/>
            </a:endParaRPr>
          </a:p>
        </p:txBody>
      </p:sp>
      <p:sp>
        <p:nvSpPr>
          <p:cNvPr id="9" name="Rectangle: Rounded Corners 8">
            <a:extLst>
              <a:ext uri="{FF2B5EF4-FFF2-40B4-BE49-F238E27FC236}">
                <a16:creationId xmlns:a16="http://schemas.microsoft.com/office/drawing/2014/main" id="{52122022-D317-4E31-8AC0-08E37EA118B5}"/>
              </a:ext>
            </a:extLst>
          </p:cNvPr>
          <p:cNvSpPr/>
          <p:nvPr/>
        </p:nvSpPr>
        <p:spPr>
          <a:xfrm>
            <a:off x="7136580" y="5697137"/>
            <a:ext cx="2147939"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160.00 JD’s</a:t>
            </a:r>
          </a:p>
        </p:txBody>
      </p:sp>
      <p:sp>
        <p:nvSpPr>
          <p:cNvPr id="14" name="TextBox 13">
            <a:extLst>
              <a:ext uri="{FF2B5EF4-FFF2-40B4-BE49-F238E27FC236}">
                <a16:creationId xmlns:a16="http://schemas.microsoft.com/office/drawing/2014/main" id="{A7BC7172-C94C-4A42-B4B4-C2C339AB1E05}"/>
              </a:ext>
            </a:extLst>
          </p:cNvPr>
          <p:cNvSpPr txBox="1"/>
          <p:nvPr/>
        </p:nvSpPr>
        <p:spPr>
          <a:xfrm>
            <a:off x="394093" y="5251897"/>
            <a:ext cx="5355633" cy="1477328"/>
          </a:xfrm>
          <a:prstGeom prst="rect">
            <a:avLst/>
          </a:prstGeom>
          <a:noFill/>
        </p:spPr>
        <p:txBody>
          <a:bodyPr wrap="none" rtlCol="0">
            <a:spAutoFit/>
          </a:bodyPr>
          <a:lstStyle/>
          <a:p>
            <a:r>
              <a:rPr lang="en-US" dirty="0"/>
              <a:t>Item Code: IGL/50548</a:t>
            </a:r>
          </a:p>
          <a:p>
            <a:r>
              <a:rPr lang="en-US" dirty="0"/>
              <a:t>Item Desc: Igloo Latitude Marine Ultra 70 QT (66 Liters)</a:t>
            </a:r>
          </a:p>
          <a:p>
            <a:r>
              <a:rPr lang="en-US" dirty="0"/>
              <a:t>RP: 160.00</a:t>
            </a:r>
          </a:p>
          <a:p>
            <a:r>
              <a:rPr lang="en-US" dirty="0"/>
              <a:t>VAT: 16%</a:t>
            </a:r>
          </a:p>
          <a:p>
            <a:r>
              <a:rPr lang="en-US" dirty="0"/>
              <a:t>MOQ: 1 Pack: 1 Case: 1</a:t>
            </a:r>
          </a:p>
        </p:txBody>
      </p:sp>
      <p:pic>
        <p:nvPicPr>
          <p:cNvPr id="3" name="Picture 2">
            <a:extLst>
              <a:ext uri="{FF2B5EF4-FFF2-40B4-BE49-F238E27FC236}">
                <a16:creationId xmlns:a16="http://schemas.microsoft.com/office/drawing/2014/main" id="{EE8EFFCA-CEFA-4BBA-AE30-EA6E9A441212}"/>
              </a:ext>
            </a:extLst>
          </p:cNvPr>
          <p:cNvPicPr>
            <a:picLocks noChangeAspect="1"/>
          </p:cNvPicPr>
          <p:nvPr/>
        </p:nvPicPr>
        <p:blipFill rotWithShape="1">
          <a:blip r:embed="rId4"/>
          <a:srcRect l="8656" t="16657" r="11735" b="19697"/>
          <a:stretch/>
        </p:blipFill>
        <p:spPr>
          <a:xfrm>
            <a:off x="623539" y="1648161"/>
            <a:ext cx="4143045" cy="2571929"/>
          </a:xfrm>
          <a:prstGeom prst="rect">
            <a:avLst/>
          </a:prstGeom>
        </p:spPr>
      </p:pic>
      <p:pic>
        <p:nvPicPr>
          <p:cNvPr id="6" name="Picture 5">
            <a:extLst>
              <a:ext uri="{FF2B5EF4-FFF2-40B4-BE49-F238E27FC236}">
                <a16:creationId xmlns:a16="http://schemas.microsoft.com/office/drawing/2014/main" id="{7D0C3DB9-AF1D-41B0-946E-E9A733467A4F}"/>
              </a:ext>
            </a:extLst>
          </p:cNvPr>
          <p:cNvPicPr>
            <a:picLocks noChangeAspect="1"/>
          </p:cNvPicPr>
          <p:nvPr/>
        </p:nvPicPr>
        <p:blipFill rotWithShape="1">
          <a:blip r:embed="rId5"/>
          <a:srcRect l="1" t="13091" r="-225" b="16243"/>
          <a:stretch/>
        </p:blipFill>
        <p:spPr>
          <a:xfrm>
            <a:off x="7686675" y="1419224"/>
            <a:ext cx="3769023" cy="2657475"/>
          </a:xfrm>
          <a:prstGeom prst="rect">
            <a:avLst/>
          </a:prstGeom>
        </p:spPr>
      </p:pic>
      <p:pic>
        <p:nvPicPr>
          <p:cNvPr id="2" name="Picture 1">
            <a:extLst>
              <a:ext uri="{FF2B5EF4-FFF2-40B4-BE49-F238E27FC236}">
                <a16:creationId xmlns:a16="http://schemas.microsoft.com/office/drawing/2014/main" id="{77F73AFE-01B6-4BED-BB01-3F70902D486C}"/>
              </a:ext>
            </a:extLst>
          </p:cNvPr>
          <p:cNvPicPr>
            <a:picLocks noChangeAspect="1"/>
          </p:cNvPicPr>
          <p:nvPr/>
        </p:nvPicPr>
        <p:blipFill>
          <a:blip r:embed="rId6"/>
          <a:stretch>
            <a:fillRect/>
          </a:stretch>
        </p:blipFill>
        <p:spPr>
          <a:xfrm>
            <a:off x="4947630" y="2786060"/>
            <a:ext cx="2296739" cy="2267543"/>
          </a:xfrm>
          <a:prstGeom prst="rect">
            <a:avLst/>
          </a:prstGeom>
        </p:spPr>
      </p:pic>
    </p:spTree>
    <p:extLst>
      <p:ext uri="{BB962C8B-B14F-4D97-AF65-F5344CB8AC3E}">
        <p14:creationId xmlns:p14="http://schemas.microsoft.com/office/powerpoint/2010/main" val="762774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dirty="0">
                <a:solidFill>
                  <a:schemeClr val="bg1"/>
                </a:solidFill>
                <a:latin typeface="+mj-lt"/>
              </a:rPr>
              <a:t>POLAR</a:t>
            </a:r>
            <a:r>
              <a:rPr lang="en-US" sz="4000" b="1" u="none" strike="noStrike" baseline="0" dirty="0">
                <a:solidFill>
                  <a:schemeClr val="bg1"/>
                </a:solidFill>
                <a:latin typeface="+mj-lt"/>
              </a:rPr>
              <a:t> COOLER 120</a:t>
            </a:r>
          </a:p>
        </p:txBody>
      </p:sp>
      <p:sp>
        <p:nvSpPr>
          <p:cNvPr id="9" name="Rectangle: Rounded Corners 8">
            <a:extLst>
              <a:ext uri="{FF2B5EF4-FFF2-40B4-BE49-F238E27FC236}">
                <a16:creationId xmlns:a16="http://schemas.microsoft.com/office/drawing/2014/main" id="{52122022-D317-4E31-8AC0-08E37EA118B5}"/>
              </a:ext>
            </a:extLst>
          </p:cNvPr>
          <p:cNvSpPr/>
          <p:nvPr/>
        </p:nvSpPr>
        <p:spPr>
          <a:xfrm>
            <a:off x="8205736" y="5342051"/>
            <a:ext cx="2147939"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150.00 JD’s</a:t>
            </a:r>
          </a:p>
        </p:txBody>
      </p:sp>
      <p:pic>
        <p:nvPicPr>
          <p:cNvPr id="5" name="Picture 4">
            <a:extLst>
              <a:ext uri="{FF2B5EF4-FFF2-40B4-BE49-F238E27FC236}">
                <a16:creationId xmlns:a16="http://schemas.microsoft.com/office/drawing/2014/main" id="{920CC9D3-2A10-4D3C-9CB6-4508EDB9243C}"/>
              </a:ext>
            </a:extLst>
          </p:cNvPr>
          <p:cNvPicPr>
            <a:picLocks noChangeAspect="1"/>
          </p:cNvPicPr>
          <p:nvPr/>
        </p:nvPicPr>
        <p:blipFill>
          <a:blip r:embed="rId4"/>
          <a:stretch>
            <a:fillRect/>
          </a:stretch>
        </p:blipFill>
        <p:spPr>
          <a:xfrm>
            <a:off x="685800" y="1515948"/>
            <a:ext cx="5532662" cy="3217977"/>
          </a:xfrm>
          <a:prstGeom prst="rect">
            <a:avLst/>
          </a:prstGeom>
        </p:spPr>
      </p:pic>
      <p:pic>
        <p:nvPicPr>
          <p:cNvPr id="6" name="Picture 5">
            <a:extLst>
              <a:ext uri="{FF2B5EF4-FFF2-40B4-BE49-F238E27FC236}">
                <a16:creationId xmlns:a16="http://schemas.microsoft.com/office/drawing/2014/main" id="{41BE3DE7-B4D9-4C3D-A8E1-72A6AB0B9217}"/>
              </a:ext>
            </a:extLst>
          </p:cNvPr>
          <p:cNvPicPr>
            <a:picLocks noChangeAspect="1"/>
          </p:cNvPicPr>
          <p:nvPr/>
        </p:nvPicPr>
        <p:blipFill rotWithShape="1">
          <a:blip r:embed="rId5"/>
          <a:srcRect t="22889" r="1555" b="21111"/>
          <a:stretch/>
        </p:blipFill>
        <p:spPr>
          <a:xfrm>
            <a:off x="6981221" y="1515948"/>
            <a:ext cx="4353529" cy="2476501"/>
          </a:xfrm>
          <a:prstGeom prst="rect">
            <a:avLst/>
          </a:prstGeom>
        </p:spPr>
      </p:pic>
      <p:sp>
        <p:nvSpPr>
          <p:cNvPr id="14" name="TextBox 13">
            <a:extLst>
              <a:ext uri="{FF2B5EF4-FFF2-40B4-BE49-F238E27FC236}">
                <a16:creationId xmlns:a16="http://schemas.microsoft.com/office/drawing/2014/main" id="{A7BC7172-C94C-4A42-B4B4-C2C339AB1E05}"/>
              </a:ext>
            </a:extLst>
          </p:cNvPr>
          <p:cNvSpPr txBox="1"/>
          <p:nvPr/>
        </p:nvSpPr>
        <p:spPr>
          <a:xfrm>
            <a:off x="403618" y="5368347"/>
            <a:ext cx="4672498" cy="1200329"/>
          </a:xfrm>
          <a:prstGeom prst="rect">
            <a:avLst/>
          </a:prstGeom>
          <a:noFill/>
        </p:spPr>
        <p:txBody>
          <a:bodyPr wrap="none" rtlCol="0">
            <a:spAutoFit/>
          </a:bodyPr>
          <a:lstStyle/>
          <a:p>
            <a:r>
              <a:rPr lang="en-US" dirty="0"/>
              <a:t>Item Code: IGL/44577</a:t>
            </a:r>
          </a:p>
          <a:p>
            <a:r>
              <a:rPr lang="en-US" dirty="0"/>
              <a:t>Item Desc: Igloo Polar 120 QT White (113 Liters)</a:t>
            </a:r>
          </a:p>
          <a:p>
            <a:r>
              <a:rPr lang="en-US" dirty="0"/>
              <a:t>VAT: 16%</a:t>
            </a:r>
          </a:p>
          <a:p>
            <a:r>
              <a:rPr lang="en-US" dirty="0"/>
              <a:t>MOQ: 1 Pack: 1 Case: 1</a:t>
            </a:r>
          </a:p>
        </p:txBody>
      </p:sp>
    </p:spTree>
    <p:extLst>
      <p:ext uri="{BB962C8B-B14F-4D97-AF65-F5344CB8AC3E}">
        <p14:creationId xmlns:p14="http://schemas.microsoft.com/office/powerpoint/2010/main" val="2809067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u="none" strike="noStrike" baseline="0" dirty="0">
                <a:solidFill>
                  <a:schemeClr val="bg1"/>
                </a:solidFill>
                <a:latin typeface="+mj-lt"/>
              </a:rPr>
              <a:t>LAGUNA COOLER 16 ROLLER</a:t>
            </a:r>
          </a:p>
        </p:txBody>
      </p:sp>
      <p:sp>
        <p:nvSpPr>
          <p:cNvPr id="11" name="TextBox 10">
            <a:extLst>
              <a:ext uri="{FF2B5EF4-FFF2-40B4-BE49-F238E27FC236}">
                <a16:creationId xmlns:a16="http://schemas.microsoft.com/office/drawing/2014/main" id="{5F280374-F541-4CC2-856D-803847372E38}"/>
              </a:ext>
            </a:extLst>
          </p:cNvPr>
          <p:cNvSpPr txBox="1"/>
          <p:nvPr/>
        </p:nvSpPr>
        <p:spPr>
          <a:xfrm>
            <a:off x="213917" y="3848634"/>
            <a:ext cx="4920011" cy="907941"/>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Size: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16 Quarts / 15 Liters / 24 Cans</a:t>
            </a:r>
          </a:p>
          <a:p>
            <a:pPr marL="285750" indent="-285750" algn="l">
              <a:buFont typeface="Arial" panose="020B0604020202020204" pitchFamily="34" charset="0"/>
              <a:buChar char="•"/>
            </a:pPr>
            <a:r>
              <a:rPr lang="en-US" sz="1600">
                <a:solidFill>
                  <a:srgbClr val="002060"/>
                </a:solidFill>
                <a:latin typeface="Anteb"/>
                <a:ea typeface="Verdana" panose="020B0604030504040204" pitchFamily="34" charset="0"/>
              </a:rPr>
              <a:t>Case Pack: 2</a:t>
            </a:r>
            <a:endParaRPr lang="en-US" sz="1600" dirty="0">
              <a:solidFill>
                <a:srgbClr val="002060"/>
              </a:solidFill>
              <a:latin typeface="Anteb"/>
              <a:ea typeface="Verdana" panose="020B0604030504040204" pitchFamily="34" charset="0"/>
            </a:endParaRPr>
          </a:p>
        </p:txBody>
      </p:sp>
      <p:pic>
        <p:nvPicPr>
          <p:cNvPr id="4" name="Picture 3">
            <a:extLst>
              <a:ext uri="{FF2B5EF4-FFF2-40B4-BE49-F238E27FC236}">
                <a16:creationId xmlns:a16="http://schemas.microsoft.com/office/drawing/2014/main" id="{0EED2C7E-4823-4F60-8944-34208D16F89E}"/>
              </a:ext>
            </a:extLst>
          </p:cNvPr>
          <p:cNvPicPr>
            <a:picLocks noChangeAspect="1"/>
          </p:cNvPicPr>
          <p:nvPr/>
        </p:nvPicPr>
        <p:blipFill rotWithShape="1">
          <a:blip r:embed="rId4"/>
          <a:srcRect l="47831" t="3039"/>
          <a:stretch/>
        </p:blipFill>
        <p:spPr>
          <a:xfrm>
            <a:off x="457200" y="5052922"/>
            <a:ext cx="1192233" cy="1215626"/>
          </a:xfrm>
          <a:prstGeom prst="rect">
            <a:avLst/>
          </a:prstGeom>
        </p:spPr>
      </p:pic>
      <p:pic>
        <p:nvPicPr>
          <p:cNvPr id="3076" name="Picture 4" descr="Image result for laguna 16 igloo roller">
            <a:extLst>
              <a:ext uri="{FF2B5EF4-FFF2-40B4-BE49-F238E27FC236}">
                <a16:creationId xmlns:a16="http://schemas.microsoft.com/office/drawing/2014/main" id="{98191061-2816-4213-B7C5-68DA3BADCC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0607" y="3238500"/>
            <a:ext cx="2864758" cy="331708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2FCE6055-BF5D-4C93-B78B-4456724DD0E7}"/>
              </a:ext>
            </a:extLst>
          </p:cNvPr>
          <p:cNvSpPr txBox="1"/>
          <p:nvPr/>
        </p:nvSpPr>
        <p:spPr>
          <a:xfrm>
            <a:off x="213918" y="1275926"/>
            <a:ext cx="4920011" cy="1892826"/>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Specifications: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Fits 24 Cans stacked in natural columns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Locking Telescoping Handle can be pushed or pulled</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NASCAR Compliant</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Molded Scoop Handles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Cool Riser Technology®- elevated design</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improves cooling performance NEW</a:t>
            </a:r>
            <a:r>
              <a:rPr lang="en-US" sz="1600" b="0" i="0" u="none" strike="noStrike" baseline="0" dirty="0">
                <a:solidFill>
                  <a:srgbClr val="000000"/>
                </a:solidFill>
                <a:latin typeface="Calibri" panose="020F0502020204030204" pitchFamily="34" charset="0"/>
              </a:rPr>
              <a:t>	</a:t>
            </a:r>
            <a:endParaRPr lang="en-US" sz="1600" dirty="0">
              <a:solidFill>
                <a:srgbClr val="002060"/>
              </a:solidFill>
              <a:latin typeface="Anteb"/>
              <a:ea typeface="Verdana" panose="020B0604030504040204" pitchFamily="34" charset="0"/>
            </a:endParaRPr>
          </a:p>
        </p:txBody>
      </p:sp>
      <p:pic>
        <p:nvPicPr>
          <p:cNvPr id="3078" name="Picture 6" descr="Image result for laguna 16 igloo roller">
            <a:extLst>
              <a:ext uri="{FF2B5EF4-FFF2-40B4-BE49-F238E27FC236}">
                <a16:creationId xmlns:a16="http://schemas.microsoft.com/office/drawing/2014/main" id="{110250AD-E101-4C21-BFDE-72CCFC49A6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65535" y="1623553"/>
            <a:ext cx="3526465" cy="513802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Rounded Corners 11">
            <a:extLst>
              <a:ext uri="{FF2B5EF4-FFF2-40B4-BE49-F238E27FC236}">
                <a16:creationId xmlns:a16="http://schemas.microsoft.com/office/drawing/2014/main" id="{D9F9C0F9-4EB6-4B4B-BAD9-4ACC4EA2AF79}"/>
              </a:ext>
            </a:extLst>
          </p:cNvPr>
          <p:cNvSpPr/>
          <p:nvPr/>
        </p:nvSpPr>
        <p:spPr>
          <a:xfrm>
            <a:off x="6743700" y="4651550"/>
            <a:ext cx="1921835"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52.00 JD’s</a:t>
            </a:r>
          </a:p>
        </p:txBody>
      </p:sp>
    </p:spTree>
    <p:extLst>
      <p:ext uri="{BB962C8B-B14F-4D97-AF65-F5344CB8AC3E}">
        <p14:creationId xmlns:p14="http://schemas.microsoft.com/office/powerpoint/2010/main" val="345814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dirty="0">
                <a:solidFill>
                  <a:schemeClr val="bg1"/>
                </a:solidFill>
                <a:latin typeface="+mj-lt"/>
              </a:rPr>
              <a:t>PROFILER</a:t>
            </a:r>
            <a:r>
              <a:rPr lang="en-US" sz="4000" b="1" u="none" strike="noStrike" baseline="0" dirty="0">
                <a:solidFill>
                  <a:schemeClr val="bg1"/>
                </a:solidFill>
                <a:latin typeface="+mj-lt"/>
              </a:rPr>
              <a:t> COOLER </a:t>
            </a:r>
            <a:r>
              <a:rPr lang="en-US" sz="4000" b="1" dirty="0">
                <a:solidFill>
                  <a:schemeClr val="bg1"/>
                </a:solidFill>
                <a:latin typeface="+mj-lt"/>
              </a:rPr>
              <a:t>28</a:t>
            </a:r>
            <a:r>
              <a:rPr lang="en-US" sz="4000" b="1" u="none" strike="noStrike" baseline="0" dirty="0">
                <a:solidFill>
                  <a:schemeClr val="bg1"/>
                </a:solidFill>
                <a:latin typeface="+mj-lt"/>
              </a:rPr>
              <a:t> ROLLER</a:t>
            </a:r>
          </a:p>
        </p:txBody>
      </p:sp>
      <p:pic>
        <p:nvPicPr>
          <p:cNvPr id="3078" name="Picture 6" descr="Image result for laguna 16 igloo roller">
            <a:extLst>
              <a:ext uri="{FF2B5EF4-FFF2-40B4-BE49-F238E27FC236}">
                <a16:creationId xmlns:a16="http://schemas.microsoft.com/office/drawing/2014/main" id="{110250AD-E101-4C21-BFDE-72CCFC49A6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667" y="1188944"/>
            <a:ext cx="2723490" cy="396809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Rounded Corners 11">
            <a:extLst>
              <a:ext uri="{FF2B5EF4-FFF2-40B4-BE49-F238E27FC236}">
                <a16:creationId xmlns:a16="http://schemas.microsoft.com/office/drawing/2014/main" id="{D9F9C0F9-4EB6-4B4B-BAD9-4ACC4EA2AF79}"/>
              </a:ext>
            </a:extLst>
          </p:cNvPr>
          <p:cNvSpPr/>
          <p:nvPr/>
        </p:nvSpPr>
        <p:spPr>
          <a:xfrm>
            <a:off x="2942380" y="4549293"/>
            <a:ext cx="1921835"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62.00 JD’s</a:t>
            </a:r>
          </a:p>
        </p:txBody>
      </p:sp>
      <p:pic>
        <p:nvPicPr>
          <p:cNvPr id="2" name="Picture 1">
            <a:extLst>
              <a:ext uri="{FF2B5EF4-FFF2-40B4-BE49-F238E27FC236}">
                <a16:creationId xmlns:a16="http://schemas.microsoft.com/office/drawing/2014/main" id="{6D74A1E8-7A7D-437E-9BF7-B4D203C1646F}"/>
              </a:ext>
            </a:extLst>
          </p:cNvPr>
          <p:cNvPicPr>
            <a:picLocks noChangeAspect="1"/>
          </p:cNvPicPr>
          <p:nvPr/>
        </p:nvPicPr>
        <p:blipFill>
          <a:blip r:embed="rId5"/>
          <a:stretch>
            <a:fillRect/>
          </a:stretch>
        </p:blipFill>
        <p:spPr>
          <a:xfrm>
            <a:off x="5014912" y="1156091"/>
            <a:ext cx="3405188" cy="3330184"/>
          </a:xfrm>
          <a:prstGeom prst="rect">
            <a:avLst/>
          </a:prstGeom>
        </p:spPr>
      </p:pic>
      <p:sp>
        <p:nvSpPr>
          <p:cNvPr id="13" name="TextBox 12">
            <a:extLst>
              <a:ext uri="{FF2B5EF4-FFF2-40B4-BE49-F238E27FC236}">
                <a16:creationId xmlns:a16="http://schemas.microsoft.com/office/drawing/2014/main" id="{252C8A44-41F5-4A07-A29F-6961C8A6A80D}"/>
              </a:ext>
            </a:extLst>
          </p:cNvPr>
          <p:cNvSpPr txBox="1"/>
          <p:nvPr/>
        </p:nvSpPr>
        <p:spPr>
          <a:xfrm>
            <a:off x="114303" y="5380610"/>
            <a:ext cx="5264262" cy="1200329"/>
          </a:xfrm>
          <a:prstGeom prst="rect">
            <a:avLst/>
          </a:prstGeom>
          <a:noFill/>
        </p:spPr>
        <p:txBody>
          <a:bodyPr wrap="none" rtlCol="0">
            <a:spAutoFit/>
          </a:bodyPr>
          <a:lstStyle/>
          <a:p>
            <a:r>
              <a:rPr lang="en-US" dirty="0"/>
              <a:t>Item Code: IGL/34673</a:t>
            </a:r>
          </a:p>
          <a:p>
            <a:r>
              <a:rPr lang="en-US" dirty="0"/>
              <a:t>Item Desc: Igloo Profiler 28 QT Roller Blue (26.5 Liters)</a:t>
            </a:r>
          </a:p>
          <a:p>
            <a:r>
              <a:rPr lang="en-US" dirty="0"/>
              <a:t>VAT: 16%</a:t>
            </a:r>
          </a:p>
          <a:p>
            <a:r>
              <a:rPr lang="en-US" dirty="0"/>
              <a:t>MOQ: 1 Pack: 2 Case: 2</a:t>
            </a:r>
          </a:p>
        </p:txBody>
      </p:sp>
      <p:sp>
        <p:nvSpPr>
          <p:cNvPr id="14" name="TextBox 13">
            <a:extLst>
              <a:ext uri="{FF2B5EF4-FFF2-40B4-BE49-F238E27FC236}">
                <a16:creationId xmlns:a16="http://schemas.microsoft.com/office/drawing/2014/main" id="{E1D27BC5-49D1-4C16-B111-55678EDF6834}"/>
              </a:ext>
            </a:extLst>
          </p:cNvPr>
          <p:cNvSpPr txBox="1"/>
          <p:nvPr/>
        </p:nvSpPr>
        <p:spPr>
          <a:xfrm>
            <a:off x="6096000" y="5380609"/>
            <a:ext cx="5207323" cy="1200329"/>
          </a:xfrm>
          <a:prstGeom prst="rect">
            <a:avLst/>
          </a:prstGeom>
          <a:noFill/>
        </p:spPr>
        <p:txBody>
          <a:bodyPr wrap="none" rtlCol="0">
            <a:spAutoFit/>
          </a:bodyPr>
          <a:lstStyle/>
          <a:p>
            <a:r>
              <a:rPr lang="en-US" dirty="0"/>
              <a:t>Item Code: IGL/34675</a:t>
            </a:r>
          </a:p>
          <a:p>
            <a:r>
              <a:rPr lang="en-US" dirty="0"/>
              <a:t>Item Desc: Igloo Profiler 28 QT Roller Red (26.5 Liters)</a:t>
            </a:r>
          </a:p>
          <a:p>
            <a:r>
              <a:rPr lang="en-US" dirty="0"/>
              <a:t>VAT: 16%</a:t>
            </a:r>
          </a:p>
          <a:p>
            <a:r>
              <a:rPr lang="en-US" dirty="0"/>
              <a:t>MOQ: 1 Pack: 2 Case: 2</a:t>
            </a:r>
          </a:p>
        </p:txBody>
      </p:sp>
    </p:spTree>
    <p:extLst>
      <p:ext uri="{BB962C8B-B14F-4D97-AF65-F5344CB8AC3E}">
        <p14:creationId xmlns:p14="http://schemas.microsoft.com/office/powerpoint/2010/main" val="1536829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u="none" strike="noStrike" baseline="0" dirty="0">
                <a:solidFill>
                  <a:schemeClr val="bg1"/>
                </a:solidFill>
                <a:latin typeface="+mj-lt"/>
              </a:rPr>
              <a:t>WHEELER COOLER 38 ROLLER</a:t>
            </a:r>
          </a:p>
        </p:txBody>
      </p:sp>
      <p:sp>
        <p:nvSpPr>
          <p:cNvPr id="12" name="Rectangle: Rounded Corners 11">
            <a:extLst>
              <a:ext uri="{FF2B5EF4-FFF2-40B4-BE49-F238E27FC236}">
                <a16:creationId xmlns:a16="http://schemas.microsoft.com/office/drawing/2014/main" id="{D9F9C0F9-4EB6-4B4B-BAD9-4ACC4EA2AF79}"/>
              </a:ext>
            </a:extLst>
          </p:cNvPr>
          <p:cNvSpPr/>
          <p:nvPr/>
        </p:nvSpPr>
        <p:spPr>
          <a:xfrm>
            <a:off x="7304830" y="5746003"/>
            <a:ext cx="1921835"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65.00 JD’s</a:t>
            </a:r>
          </a:p>
        </p:txBody>
      </p:sp>
      <p:sp>
        <p:nvSpPr>
          <p:cNvPr id="13" name="TextBox 12">
            <a:extLst>
              <a:ext uri="{FF2B5EF4-FFF2-40B4-BE49-F238E27FC236}">
                <a16:creationId xmlns:a16="http://schemas.microsoft.com/office/drawing/2014/main" id="{252C8A44-41F5-4A07-A29F-6961C8A6A80D}"/>
              </a:ext>
            </a:extLst>
          </p:cNvPr>
          <p:cNvSpPr txBox="1"/>
          <p:nvPr/>
        </p:nvSpPr>
        <p:spPr>
          <a:xfrm>
            <a:off x="114303" y="5380610"/>
            <a:ext cx="4610686" cy="1200329"/>
          </a:xfrm>
          <a:prstGeom prst="rect">
            <a:avLst/>
          </a:prstGeom>
          <a:noFill/>
        </p:spPr>
        <p:txBody>
          <a:bodyPr wrap="none" rtlCol="0">
            <a:spAutoFit/>
          </a:bodyPr>
          <a:lstStyle/>
          <a:p>
            <a:r>
              <a:rPr lang="en-US" dirty="0"/>
              <a:t>Item Code: IGL/34482</a:t>
            </a:r>
          </a:p>
          <a:p>
            <a:r>
              <a:rPr lang="en-US" dirty="0"/>
              <a:t>Item Desc: Igloo Wheeler 38 QT Blue (36 Liters)</a:t>
            </a:r>
          </a:p>
          <a:p>
            <a:r>
              <a:rPr lang="en-US" dirty="0"/>
              <a:t>VAT: 16%</a:t>
            </a:r>
          </a:p>
          <a:p>
            <a:r>
              <a:rPr lang="en-US" dirty="0"/>
              <a:t>MOQ: 1 Pack: 2 Case: 2</a:t>
            </a:r>
          </a:p>
        </p:txBody>
      </p:sp>
      <p:pic>
        <p:nvPicPr>
          <p:cNvPr id="6" name="Picture 5">
            <a:extLst>
              <a:ext uri="{FF2B5EF4-FFF2-40B4-BE49-F238E27FC236}">
                <a16:creationId xmlns:a16="http://schemas.microsoft.com/office/drawing/2014/main" id="{2046E085-4522-4B1D-91AF-F40719F610A4}"/>
              </a:ext>
            </a:extLst>
          </p:cNvPr>
          <p:cNvPicPr>
            <a:picLocks noChangeAspect="1"/>
          </p:cNvPicPr>
          <p:nvPr/>
        </p:nvPicPr>
        <p:blipFill rotWithShape="1">
          <a:blip r:embed="rId4"/>
          <a:srcRect l="1" t="15395" r="712" b="14257"/>
          <a:stretch/>
        </p:blipFill>
        <p:spPr>
          <a:xfrm>
            <a:off x="623539" y="1895475"/>
            <a:ext cx="3938936" cy="2790826"/>
          </a:xfrm>
          <a:prstGeom prst="rect">
            <a:avLst/>
          </a:prstGeom>
        </p:spPr>
      </p:pic>
      <p:pic>
        <p:nvPicPr>
          <p:cNvPr id="7" name="Picture 6">
            <a:extLst>
              <a:ext uri="{FF2B5EF4-FFF2-40B4-BE49-F238E27FC236}">
                <a16:creationId xmlns:a16="http://schemas.microsoft.com/office/drawing/2014/main" id="{2D0573C1-A4D8-429E-B93F-AE9FF340DFE3}"/>
              </a:ext>
            </a:extLst>
          </p:cNvPr>
          <p:cNvPicPr>
            <a:picLocks noChangeAspect="1"/>
          </p:cNvPicPr>
          <p:nvPr/>
        </p:nvPicPr>
        <p:blipFill rotWithShape="1">
          <a:blip r:embed="rId5"/>
          <a:srcRect l="20666" b="-222"/>
          <a:stretch/>
        </p:blipFill>
        <p:spPr>
          <a:xfrm>
            <a:off x="6800851" y="1427676"/>
            <a:ext cx="3257550" cy="4115282"/>
          </a:xfrm>
          <a:prstGeom prst="rect">
            <a:avLst/>
          </a:prstGeom>
        </p:spPr>
      </p:pic>
    </p:spTree>
    <p:extLst>
      <p:ext uri="{BB962C8B-B14F-4D97-AF65-F5344CB8AC3E}">
        <p14:creationId xmlns:p14="http://schemas.microsoft.com/office/powerpoint/2010/main" val="1436781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u="none" strike="noStrike" baseline="0" dirty="0">
                <a:solidFill>
                  <a:schemeClr val="bg1"/>
                </a:solidFill>
                <a:latin typeface="+mj-lt"/>
              </a:rPr>
              <a:t>MAXCOLD 40 ROLLER</a:t>
            </a:r>
          </a:p>
        </p:txBody>
      </p:sp>
      <p:sp>
        <p:nvSpPr>
          <p:cNvPr id="12" name="Rectangle: Rounded Corners 11">
            <a:extLst>
              <a:ext uri="{FF2B5EF4-FFF2-40B4-BE49-F238E27FC236}">
                <a16:creationId xmlns:a16="http://schemas.microsoft.com/office/drawing/2014/main" id="{D9F9C0F9-4EB6-4B4B-BAD9-4ACC4EA2AF79}"/>
              </a:ext>
            </a:extLst>
          </p:cNvPr>
          <p:cNvSpPr/>
          <p:nvPr/>
        </p:nvSpPr>
        <p:spPr>
          <a:xfrm>
            <a:off x="7304830" y="5746003"/>
            <a:ext cx="2239220"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100.00 JD’s</a:t>
            </a:r>
          </a:p>
        </p:txBody>
      </p:sp>
      <p:sp>
        <p:nvSpPr>
          <p:cNvPr id="13" name="TextBox 12">
            <a:extLst>
              <a:ext uri="{FF2B5EF4-FFF2-40B4-BE49-F238E27FC236}">
                <a16:creationId xmlns:a16="http://schemas.microsoft.com/office/drawing/2014/main" id="{252C8A44-41F5-4A07-A29F-6961C8A6A80D}"/>
              </a:ext>
            </a:extLst>
          </p:cNvPr>
          <p:cNvSpPr txBox="1"/>
          <p:nvPr/>
        </p:nvSpPr>
        <p:spPr>
          <a:xfrm>
            <a:off x="114303" y="5380610"/>
            <a:ext cx="4899675" cy="1200329"/>
          </a:xfrm>
          <a:prstGeom prst="rect">
            <a:avLst/>
          </a:prstGeom>
          <a:noFill/>
        </p:spPr>
        <p:txBody>
          <a:bodyPr wrap="none" rtlCol="0">
            <a:spAutoFit/>
          </a:bodyPr>
          <a:lstStyle/>
          <a:p>
            <a:r>
              <a:rPr lang="en-US" dirty="0"/>
              <a:t>Item Code: IGL/34226</a:t>
            </a:r>
          </a:p>
          <a:p>
            <a:r>
              <a:rPr lang="en-US" dirty="0"/>
              <a:t>Item Desc: Igloo </a:t>
            </a:r>
            <a:r>
              <a:rPr lang="en-US" dirty="0" err="1"/>
              <a:t>Maxcold</a:t>
            </a:r>
            <a:r>
              <a:rPr lang="en-US" dirty="0"/>
              <a:t> 40 QT Roller (37.5 Liters)</a:t>
            </a:r>
          </a:p>
          <a:p>
            <a:r>
              <a:rPr lang="en-US" dirty="0"/>
              <a:t>VAT: 16%</a:t>
            </a:r>
          </a:p>
          <a:p>
            <a:r>
              <a:rPr lang="en-US" dirty="0"/>
              <a:t>MOQ: 1 Pack: 2 Case: 2</a:t>
            </a:r>
          </a:p>
        </p:txBody>
      </p:sp>
      <p:pic>
        <p:nvPicPr>
          <p:cNvPr id="2" name="Picture 1">
            <a:extLst>
              <a:ext uri="{FF2B5EF4-FFF2-40B4-BE49-F238E27FC236}">
                <a16:creationId xmlns:a16="http://schemas.microsoft.com/office/drawing/2014/main" id="{1DC0CC3F-09AD-4EB8-A800-6628BB256F02}"/>
              </a:ext>
            </a:extLst>
          </p:cNvPr>
          <p:cNvPicPr>
            <a:picLocks noChangeAspect="1"/>
          </p:cNvPicPr>
          <p:nvPr/>
        </p:nvPicPr>
        <p:blipFill>
          <a:blip r:embed="rId4"/>
          <a:stretch>
            <a:fillRect/>
          </a:stretch>
        </p:blipFill>
        <p:spPr>
          <a:xfrm>
            <a:off x="314324" y="1094089"/>
            <a:ext cx="4610685" cy="3962903"/>
          </a:xfrm>
          <a:prstGeom prst="rect">
            <a:avLst/>
          </a:prstGeom>
        </p:spPr>
      </p:pic>
      <p:pic>
        <p:nvPicPr>
          <p:cNvPr id="3" name="Picture 2">
            <a:extLst>
              <a:ext uri="{FF2B5EF4-FFF2-40B4-BE49-F238E27FC236}">
                <a16:creationId xmlns:a16="http://schemas.microsoft.com/office/drawing/2014/main" id="{E923177E-5BF6-483B-9078-3B69F9D048F5}"/>
              </a:ext>
            </a:extLst>
          </p:cNvPr>
          <p:cNvPicPr>
            <a:picLocks noChangeAspect="1"/>
          </p:cNvPicPr>
          <p:nvPr/>
        </p:nvPicPr>
        <p:blipFill rotWithShape="1">
          <a:blip r:embed="rId5"/>
          <a:srcRect l="5444" t="13387" b="16493"/>
          <a:stretch/>
        </p:blipFill>
        <p:spPr>
          <a:xfrm>
            <a:off x="7648576" y="1695450"/>
            <a:ext cx="3814762" cy="2828925"/>
          </a:xfrm>
          <a:prstGeom prst="rect">
            <a:avLst/>
          </a:prstGeom>
        </p:spPr>
      </p:pic>
      <p:pic>
        <p:nvPicPr>
          <p:cNvPr id="4" name="Picture 3">
            <a:extLst>
              <a:ext uri="{FF2B5EF4-FFF2-40B4-BE49-F238E27FC236}">
                <a16:creationId xmlns:a16="http://schemas.microsoft.com/office/drawing/2014/main" id="{86365FAC-D33B-4277-B568-7DE0A2FFCD59}"/>
              </a:ext>
            </a:extLst>
          </p:cNvPr>
          <p:cNvPicPr>
            <a:picLocks noChangeAspect="1"/>
          </p:cNvPicPr>
          <p:nvPr/>
        </p:nvPicPr>
        <p:blipFill>
          <a:blip r:embed="rId6"/>
          <a:stretch>
            <a:fillRect/>
          </a:stretch>
        </p:blipFill>
        <p:spPr>
          <a:xfrm>
            <a:off x="4925009" y="2562226"/>
            <a:ext cx="2156889" cy="2129470"/>
          </a:xfrm>
          <a:prstGeom prst="rect">
            <a:avLst/>
          </a:prstGeom>
        </p:spPr>
      </p:pic>
    </p:spTree>
    <p:extLst>
      <p:ext uri="{BB962C8B-B14F-4D97-AF65-F5344CB8AC3E}">
        <p14:creationId xmlns:p14="http://schemas.microsoft.com/office/powerpoint/2010/main" val="3492683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9E1B32C-D1F8-4E04-B2D8-0BBC99146CC7}"/>
              </a:ext>
            </a:extLst>
          </p:cNvPr>
          <p:cNvPicPr>
            <a:picLocks noChangeAspect="1"/>
          </p:cNvPicPr>
          <p:nvPr/>
        </p:nvPicPr>
        <p:blipFill>
          <a:blip r:embed="rId2"/>
          <a:stretch>
            <a:fillRect/>
          </a:stretch>
        </p:blipFill>
        <p:spPr>
          <a:xfrm>
            <a:off x="0" y="62"/>
            <a:ext cx="12192000" cy="965314"/>
          </a:xfrm>
          <a:prstGeom prst="rect">
            <a:avLst/>
          </a:prstGeom>
        </p:spPr>
      </p:pic>
      <p:pic>
        <p:nvPicPr>
          <p:cNvPr id="21" name="Picture 2">
            <a:extLst>
              <a:ext uri="{FF2B5EF4-FFF2-40B4-BE49-F238E27FC236}">
                <a16:creationId xmlns:a16="http://schemas.microsoft.com/office/drawing/2014/main" id="{9667AF98-90C5-49FC-AF7D-38EB4BF608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9324"/>
            <a:ext cx="1247078" cy="386789"/>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33B2B1B-6354-4B44-9182-85CE9A0249EE}"/>
              </a:ext>
            </a:extLst>
          </p:cNvPr>
          <p:cNvSpPr txBox="1"/>
          <p:nvPr/>
        </p:nvSpPr>
        <p:spPr>
          <a:xfrm>
            <a:off x="0" y="128775"/>
            <a:ext cx="12192000" cy="707886"/>
          </a:xfrm>
          <a:prstGeom prst="rect">
            <a:avLst/>
          </a:prstGeom>
          <a:noFill/>
        </p:spPr>
        <p:txBody>
          <a:bodyPr wrap="square" rtlCol="0">
            <a:spAutoFit/>
          </a:bodyPr>
          <a:lstStyle/>
          <a:p>
            <a:pPr algn="ctr"/>
            <a:r>
              <a:rPr lang="en-US" sz="4000" b="1" u="none" strike="noStrike" baseline="0" dirty="0">
                <a:solidFill>
                  <a:schemeClr val="bg1"/>
                </a:solidFill>
                <a:latin typeface="+mj-lt"/>
              </a:rPr>
              <a:t>LAGUNA COOLER 60 ROLLER</a:t>
            </a:r>
          </a:p>
        </p:txBody>
      </p:sp>
      <p:sp>
        <p:nvSpPr>
          <p:cNvPr id="11" name="TextBox 10">
            <a:extLst>
              <a:ext uri="{FF2B5EF4-FFF2-40B4-BE49-F238E27FC236}">
                <a16:creationId xmlns:a16="http://schemas.microsoft.com/office/drawing/2014/main" id="{5F280374-F541-4CC2-856D-803847372E38}"/>
              </a:ext>
            </a:extLst>
          </p:cNvPr>
          <p:cNvSpPr txBox="1"/>
          <p:nvPr/>
        </p:nvSpPr>
        <p:spPr>
          <a:xfrm>
            <a:off x="213918" y="4854889"/>
            <a:ext cx="4920011" cy="907941"/>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Size: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48 Quarts / 45 Liters / 76 Cans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Case Pack: 2</a:t>
            </a:r>
          </a:p>
        </p:txBody>
      </p:sp>
      <p:sp>
        <p:nvSpPr>
          <p:cNvPr id="12" name="TextBox 11">
            <a:extLst>
              <a:ext uri="{FF2B5EF4-FFF2-40B4-BE49-F238E27FC236}">
                <a16:creationId xmlns:a16="http://schemas.microsoft.com/office/drawing/2014/main" id="{F77413FE-8E76-41BF-8CD2-F7E777BB6E2D}"/>
              </a:ext>
            </a:extLst>
          </p:cNvPr>
          <p:cNvSpPr txBox="1"/>
          <p:nvPr/>
        </p:nvSpPr>
        <p:spPr>
          <a:xfrm>
            <a:off x="213918" y="1052638"/>
            <a:ext cx="4920011" cy="3862596"/>
          </a:xfrm>
          <a:prstGeom prst="rect">
            <a:avLst/>
          </a:prstGeom>
          <a:noFill/>
        </p:spPr>
        <p:txBody>
          <a:bodyPr wrap="square">
            <a:spAutoFit/>
          </a:bodyPr>
          <a:lstStyle/>
          <a:p>
            <a:pPr>
              <a:spcAft>
                <a:spcPts val="600"/>
              </a:spcAft>
            </a:pPr>
            <a:r>
              <a:rPr lang="en-US" sz="1600" b="1" u="sng" kern="0" dirty="0">
                <a:solidFill>
                  <a:srgbClr val="56BEDC"/>
                </a:solidFill>
                <a:latin typeface="Anteb"/>
                <a:ea typeface="Verdana" panose="020B0604030504040204" pitchFamily="34" charset="0"/>
                <a:cs typeface="Calibri"/>
              </a:rPr>
              <a:t>Specifications: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Wheeled for easy transport</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Locking, telescoping handle enables cooler to be pushed or pulled</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Molded side handles for lifting in / out of vehicle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Self-draining drink holders keep your beverages within arm’s reach</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Two accommodate 12-ounce cans while two fit large personal hydration tumblers</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Recessed drain plug makes emptying melted ice a cinch</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Cool Riser Technology® – elevated design improves cooling performance</a:t>
            </a:r>
          </a:p>
          <a:p>
            <a:pPr marL="285750" indent="-285750" algn="l">
              <a:buFont typeface="Arial" panose="020B0604020202020204" pitchFamily="34" charset="0"/>
              <a:buChar char="•"/>
            </a:pPr>
            <a:r>
              <a:rPr lang="en-US" sz="1600" dirty="0">
                <a:solidFill>
                  <a:srgbClr val="002060"/>
                </a:solidFill>
                <a:latin typeface="Anteb"/>
                <a:ea typeface="Verdana" panose="020B0604030504040204" pitchFamily="34" charset="0"/>
              </a:rPr>
              <a:t>NEW THERMECOOL™ Foam – Cleaner ECO friendly solution</a:t>
            </a:r>
            <a:r>
              <a:rPr lang="en-US" sz="1600" b="0" i="0" u="none" strike="noStrike" baseline="0" dirty="0">
                <a:solidFill>
                  <a:srgbClr val="000000"/>
                </a:solidFill>
                <a:latin typeface="Calibri" panose="020F0502020204030204" pitchFamily="34" charset="0"/>
              </a:rPr>
              <a:t>	</a:t>
            </a:r>
            <a:endParaRPr lang="en-US" sz="1600" dirty="0">
              <a:solidFill>
                <a:srgbClr val="002060"/>
              </a:solidFill>
              <a:latin typeface="Anteb"/>
              <a:ea typeface="Verdana" panose="020B0604030504040204" pitchFamily="34" charset="0"/>
            </a:endParaRPr>
          </a:p>
        </p:txBody>
      </p:sp>
      <p:pic>
        <p:nvPicPr>
          <p:cNvPr id="3" name="Picture 2">
            <a:extLst>
              <a:ext uri="{FF2B5EF4-FFF2-40B4-BE49-F238E27FC236}">
                <a16:creationId xmlns:a16="http://schemas.microsoft.com/office/drawing/2014/main" id="{460F0756-7A18-4BB3-814B-76557C81FD3B}"/>
              </a:ext>
            </a:extLst>
          </p:cNvPr>
          <p:cNvPicPr>
            <a:picLocks noChangeAspect="1"/>
          </p:cNvPicPr>
          <p:nvPr/>
        </p:nvPicPr>
        <p:blipFill>
          <a:blip r:embed="rId4"/>
          <a:stretch>
            <a:fillRect/>
          </a:stretch>
        </p:blipFill>
        <p:spPr>
          <a:xfrm>
            <a:off x="213918" y="5737840"/>
            <a:ext cx="2011487" cy="1120098"/>
          </a:xfrm>
          <a:prstGeom prst="rect">
            <a:avLst/>
          </a:prstGeom>
        </p:spPr>
      </p:pic>
      <p:pic>
        <p:nvPicPr>
          <p:cNvPr id="5122" name="Picture 2" descr="Image result for laguna 60igloo roller">
            <a:extLst>
              <a:ext uri="{FF2B5EF4-FFF2-40B4-BE49-F238E27FC236}">
                <a16:creationId xmlns:a16="http://schemas.microsoft.com/office/drawing/2014/main" id="{32F93C73-D7A9-40E9-AF1C-2FFE659209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77826" y="1552353"/>
            <a:ext cx="3300256" cy="517687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Image result for laguna 60igloo roller">
            <a:extLst>
              <a:ext uri="{FF2B5EF4-FFF2-40B4-BE49-F238E27FC236}">
                <a16:creationId xmlns:a16="http://schemas.microsoft.com/office/drawing/2014/main" id="{80497394-7A25-43BB-A2A7-CB4818E68109}"/>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5560" b="7575"/>
          <a:stretch/>
        </p:blipFill>
        <p:spPr bwMode="auto">
          <a:xfrm>
            <a:off x="5084579" y="3800136"/>
            <a:ext cx="3108681" cy="305780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Image result for laguna 60igloo roller">
            <a:extLst>
              <a:ext uri="{FF2B5EF4-FFF2-40B4-BE49-F238E27FC236}">
                <a16:creationId xmlns:a16="http://schemas.microsoft.com/office/drawing/2014/main" id="{28BDE533-4F0E-4DEC-81A1-15A56669EAB3}"/>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4126" b="8005"/>
          <a:stretch/>
        </p:blipFill>
        <p:spPr bwMode="auto">
          <a:xfrm>
            <a:off x="5097510" y="976440"/>
            <a:ext cx="3095750" cy="2783341"/>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Rounded Corners 12">
            <a:extLst>
              <a:ext uri="{FF2B5EF4-FFF2-40B4-BE49-F238E27FC236}">
                <a16:creationId xmlns:a16="http://schemas.microsoft.com/office/drawing/2014/main" id="{C3BE7FDC-377D-4CA5-A0DE-CD074E59A619}"/>
              </a:ext>
            </a:extLst>
          </p:cNvPr>
          <p:cNvSpPr/>
          <p:nvPr/>
        </p:nvSpPr>
        <p:spPr>
          <a:xfrm>
            <a:off x="3212730" y="5632881"/>
            <a:ext cx="1921199" cy="834936"/>
          </a:xfrm>
          <a:prstGeom prst="roundRect">
            <a:avLst/>
          </a:prstGeom>
          <a:solidFill>
            <a:srgbClr val="18CB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85.00 JD’s</a:t>
            </a:r>
          </a:p>
        </p:txBody>
      </p:sp>
    </p:spTree>
    <p:extLst>
      <p:ext uri="{BB962C8B-B14F-4D97-AF65-F5344CB8AC3E}">
        <p14:creationId xmlns:p14="http://schemas.microsoft.com/office/powerpoint/2010/main" val="1759187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28814</TotalTime>
  <Words>1194</Words>
  <Application>Microsoft Office PowerPoint</Application>
  <PresentationFormat>Widescreen</PresentationFormat>
  <Paragraphs>185</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Anteb</vt:lpstr>
      <vt:lpstr>Arial</vt:lpstr>
      <vt:lpstr>Calibri</vt:lpstr>
      <vt:lpstr>Calibri Light</vt:lpstr>
      <vt:lpstr>Nexa</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Bosnoyan</dc:creator>
  <cp:lastModifiedBy>Carlos Najm</cp:lastModifiedBy>
  <cp:revision>231</cp:revision>
  <cp:lastPrinted>2025-06-04T07:23:37Z</cp:lastPrinted>
  <dcterms:created xsi:type="dcterms:W3CDTF">2020-10-30T14:49:36Z</dcterms:created>
  <dcterms:modified xsi:type="dcterms:W3CDTF">2025-06-04T07:25:23Z</dcterms:modified>
</cp:coreProperties>
</file>